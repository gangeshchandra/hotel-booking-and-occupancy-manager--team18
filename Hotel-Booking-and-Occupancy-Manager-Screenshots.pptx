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Inter Bold"/>
      <p:regular r:id="rId201314"/>
    </p:embeddedFont>
    <p:embeddedFont>
      <p:font typeface="Inter"/>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2.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gangeshchandra" TargetMode="External"/><Relationship Id="rId4" Type="http://schemas.openxmlformats.org/officeDocument/2006/relationships/hyperlink" Target="https://github.com/siddarth901" TargetMode="External"/><Relationship Id="rId5" Type="http://schemas.openxmlformats.org/officeDocument/2006/relationships/hyperlink" Target="https://github.com/gangeshchandra/HOTEL-BOOKING-AND-OCCUPANCY-MANAGER--team18" TargetMode="External"/><Relationship Id="rId1" Type="http://schemas.openxmlformats.org/officeDocument/2006/relationships/image" Target="../media/image-1-1.png"/><Relationship Id="rId2" Type="http://schemas.openxmlformats.org/officeDocument/2006/relationships/image" Target="../media/image-12-2.jpe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015" y="-164505"/>
            <a:ext cx="1215201" cy="1122363"/>
          </a:xfrm>
          <a:prstGeom prst="rect">
            <a:avLst/>
          </a:prstGeom>
        </p:spPr>
      </p:pic>
      <p:sp>
        <p:nvSpPr>
          <p:cNvPr id="3" name="Text 0"/>
          <p:cNvSpPr/>
          <p:nvPr/>
        </p:nvSpPr>
        <p:spPr>
          <a:xfrm>
            <a:off x="1615340" y="2200727"/>
            <a:ext cx="8961015" cy="1205706"/>
          </a:xfrm>
          <a:prstGeom prst="rect">
            <a:avLst/>
          </a:prstGeom>
          <a:noFill/>
          <a:ln/>
        </p:spPr>
        <p:txBody>
          <a:bodyPr wrap="square" lIns="0" tIns="0" rIns="0" bIns="0" rtlCol="0" anchor="t">
            <a:normAutofit/>
          </a:bodyPr>
          <a:lstStyle/>
          <a:p>
            <a:pPr algn="ctr" indent="0" marL="0">
              <a:lnSpc>
                <a:spcPct val="99000"/>
              </a:lnSpc>
              <a:buNone/>
            </a:pPr>
            <a:r>
              <a:rPr lang="en-US" sz="4000" b="1" spc="-153" kern="100" dirty="0">
                <a:solidFill>
                  <a:srgbClr val="000000"/>
                </a:solidFill>
                <a:latin typeface="Inter Bold" pitchFamily="34" charset="0"/>
                <a:ea typeface="Inter Bold" pitchFamily="34" charset="-122"/>
                <a:cs typeface="Inter Bold" pitchFamily="34" charset="-120"/>
              </a:rPr>
              <a:t>HOTEL BOOKING AND</a:t>
            </a:r>
            <a:endParaRPr lang="en-US" sz="4000" dirty="0"/>
          </a:p>
          <a:p>
            <a:pPr algn="ctr" indent="0" marL="0">
              <a:lnSpc>
                <a:spcPct val="99000"/>
              </a:lnSpc>
              <a:buNone/>
            </a:pPr>
            <a:r>
              <a:rPr lang="en-US" sz="4000" b="1" spc="-153" kern="100" dirty="0">
                <a:solidFill>
                  <a:srgbClr val="000000"/>
                </a:solidFill>
                <a:latin typeface="Inter Bold" pitchFamily="34" charset="0"/>
                <a:ea typeface="Inter Bold" pitchFamily="34" charset="-122"/>
                <a:cs typeface="Inter Bold" pitchFamily="34" charset="-120"/>
              </a:rPr>
              <a:t>OCCUPANCY MANAGER</a:t>
            </a:r>
            <a:endParaRPr lang="en-US" sz="4000" dirty="0"/>
          </a:p>
        </p:txBody>
      </p:sp>
      <p:sp>
        <p:nvSpPr>
          <p:cNvPr id="4" name="Text 1"/>
          <p:cNvSpPr/>
          <p:nvPr/>
        </p:nvSpPr>
        <p:spPr>
          <a:xfrm>
            <a:off x="3337338" y="3807381"/>
            <a:ext cx="5520592" cy="274241"/>
          </a:xfrm>
          <a:prstGeom prst="rect">
            <a:avLst/>
          </a:prstGeom>
          <a:noFill/>
          <a:ln/>
        </p:spPr>
        <p:txBody>
          <a:bodyPr wrap="none" lIns="0" tIns="0" rIns="0" bIns="0" rtlCol="0" anchor="t"/>
          <a:lstStyle/>
          <a:p>
            <a:pPr algn="l" indent="0" marL="0">
              <a:lnSpc>
                <a:spcPct val="90000"/>
              </a:lnSpc>
              <a:buNone/>
            </a:pPr>
            <a:r>
              <a:rPr lang="en-US" sz="2000" spc="-98" kern="100" dirty="0">
                <a:solidFill>
                  <a:srgbClr val="000000"/>
                </a:solidFill>
                <a:latin typeface="Inter" pitchFamily="34" charset="0"/>
                <a:ea typeface="Inter" pitchFamily="34" charset="-122"/>
                <a:cs typeface="Inter" pitchFamily="34" charset="-120"/>
              </a:rPr>
              <a:t>GANGESH CHANDRA2620030426</a:t>
            </a:r>
            <a:endParaRPr lang="en-US" sz="2000" dirty="0"/>
          </a:p>
        </p:txBody>
      </p:sp>
      <p:sp>
        <p:nvSpPr>
          <p:cNvPr id="5" name="Text 2"/>
          <p:cNvSpPr/>
          <p:nvPr/>
        </p:nvSpPr>
        <p:spPr>
          <a:xfrm>
            <a:off x="3337338" y="4208621"/>
            <a:ext cx="5520592" cy="274241"/>
          </a:xfrm>
          <a:prstGeom prst="rect">
            <a:avLst/>
          </a:prstGeom>
          <a:noFill/>
          <a:ln/>
        </p:spPr>
        <p:txBody>
          <a:bodyPr wrap="none" lIns="0" tIns="0" rIns="0" bIns="0" rtlCol="0" anchor="t"/>
          <a:lstStyle/>
          <a:p>
            <a:pPr algn="l" indent="0" marL="0">
              <a:lnSpc>
                <a:spcPct val="90000"/>
              </a:lnSpc>
              <a:buNone/>
            </a:pPr>
            <a:r>
              <a:rPr lang="en-US" sz="2000" spc="-98" kern="100" dirty="0">
                <a:solidFill>
                  <a:srgbClr val="000000"/>
                </a:solidFill>
                <a:latin typeface="Inter" pitchFamily="34" charset="0"/>
                <a:ea typeface="Inter" pitchFamily="34" charset="-122"/>
                <a:cs typeface="Inter" pitchFamily="34" charset="-120"/>
              </a:rPr>
              <a:t>AJAY SIDDARTH2620030181</a:t>
            </a:r>
            <a:endParaRPr lang="en-US" sz="2000" dirty="0"/>
          </a:p>
        </p:txBody>
      </p:sp>
      <p:sp>
        <p:nvSpPr>
          <p:cNvPr id="6" name="Text 3"/>
          <p:cNvSpPr/>
          <p:nvPr/>
        </p:nvSpPr>
        <p:spPr>
          <a:xfrm>
            <a:off x="929557" y="6447582"/>
            <a:ext cx="1431691"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15-10-2026</a:t>
            </a:r>
            <a:endParaRPr lang="en-US" sz="1200" dirty="0"/>
          </a:p>
        </p:txBody>
      </p:sp>
      <p:sp>
        <p:nvSpPr>
          <p:cNvPr id="7" name="Text 4"/>
          <p:cNvSpPr/>
          <p:nvPr/>
        </p:nvSpPr>
        <p:spPr>
          <a:xfrm>
            <a:off x="11200128" y="6447582"/>
            <a:ext cx="671595"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015" y="-164505"/>
            <a:ext cx="1215201" cy="1122363"/>
          </a:xfrm>
          <a:prstGeom prst="rect">
            <a:avLst/>
          </a:prstGeom>
        </p:spPr>
      </p:pic>
      <p:sp>
        <p:nvSpPr>
          <p:cNvPr id="3" name="Text 0"/>
          <p:cNvSpPr/>
          <p:nvPr/>
        </p:nvSpPr>
        <p:spPr>
          <a:xfrm>
            <a:off x="929557" y="684863"/>
            <a:ext cx="10366810" cy="602853"/>
          </a:xfrm>
          <a:prstGeom prst="rect">
            <a:avLst/>
          </a:prstGeom>
          <a:noFill/>
          <a:ln/>
        </p:spPr>
        <p:txBody>
          <a:bodyPr wrap="none" lIns="0" tIns="0" rIns="0" bIns="0" rtlCol="0" anchor="t"/>
          <a:lstStyle/>
          <a:p>
            <a:pPr algn="l" indent="0" marL="0">
              <a:lnSpc>
                <a:spcPct val="99000"/>
              </a:lnSpc>
              <a:buNone/>
            </a:pPr>
            <a:r>
              <a:rPr lang="en-US" sz="4000" spc="-153" kern="100" dirty="0">
                <a:solidFill>
                  <a:srgbClr val="000000"/>
                </a:solidFill>
                <a:latin typeface="Inter" pitchFamily="34" charset="0"/>
                <a:ea typeface="Inter" pitchFamily="34" charset="-122"/>
                <a:cs typeface="Inter" pitchFamily="34" charset="-120"/>
              </a:rPr>
              <a:t>Abstract</a:t>
            </a:r>
            <a:endParaRPr lang="en-US" sz="4000" dirty="0"/>
          </a:p>
        </p:txBody>
      </p:sp>
      <p:sp>
        <p:nvSpPr>
          <p:cNvPr id="4" name="Text 1"/>
          <p:cNvSpPr/>
          <p:nvPr/>
        </p:nvSpPr>
        <p:spPr>
          <a:xfrm>
            <a:off x="929557" y="1495425"/>
            <a:ext cx="10366810" cy="3977481"/>
          </a:xfrm>
          <a:prstGeom prst="rect">
            <a:avLst/>
          </a:prstGeom>
          <a:noFill/>
          <a:ln/>
        </p:spPr>
        <p:txBody>
          <a:bodyPr wrap="square" lIns="0" tIns="0" rIns="0" bIns="0" rtlCol="0" anchor="t">
            <a:normAutofit/>
          </a:bodyPr>
          <a:lstStyle/>
          <a:p>
            <a:pPr algn="l" indent="0" marL="0">
              <a:lnSpc>
                <a:spcPct val="100000"/>
              </a:lnSpc>
              <a:spcAft>
                <a:spcPts val="1050"/>
              </a:spcAft>
              <a:buNone/>
            </a:pPr>
            <a:r>
              <a:rPr lang="en-US" sz="1500" spc="-74" kern="100" dirty="0">
                <a:solidFill>
                  <a:srgbClr val="1F2933"/>
                </a:solidFill>
                <a:latin typeface="Inter" pitchFamily="34" charset="0"/>
                <a:ea typeface="Inter" pitchFamily="34" charset="-122"/>
                <a:cs typeface="Inter" pitchFamily="34" charset="-120"/>
              </a:rPr>
              <a:t>The </a:t>
            </a:r>
            <a:pPr algn="l" indent="0" marL="0">
              <a:lnSpc>
                <a:spcPct val="100000"/>
              </a:lnSpc>
              <a:spcAft>
                <a:spcPts val="1050"/>
              </a:spcAft>
              <a:buNone/>
            </a:pPr>
            <a:r>
              <a:rPr lang="en-US" sz="1500" b="1" spc="-74" kern="100" dirty="0">
                <a:solidFill>
                  <a:srgbClr val="1F2933"/>
                </a:solidFill>
                <a:latin typeface="Inter Bold" pitchFamily="34" charset="0"/>
                <a:ea typeface="Inter Bold" pitchFamily="34" charset="-122"/>
                <a:cs typeface="Inter Bold" pitchFamily="34" charset="-120"/>
              </a:rPr>
              <a:t>Hotel Booking and Occupancy Manager</a:t>
            </a:r>
            <a:pPr algn="l" indent="0" marL="0">
              <a:lnSpc>
                <a:spcPct val="100000"/>
              </a:lnSpc>
              <a:spcAft>
                <a:spcPts val="1050"/>
              </a:spcAft>
              <a:buNone/>
            </a:pPr>
            <a:r>
              <a:rPr lang="en-US" sz="1500" spc="-74" kern="100" dirty="0">
                <a:solidFill>
                  <a:srgbClr val="1F2933"/>
                </a:solidFill>
                <a:latin typeface="Inter" pitchFamily="34" charset="0"/>
                <a:ea typeface="Inter" pitchFamily="34" charset="-122"/>
                <a:cs typeface="Inter" pitchFamily="34" charset="-120"/>
              </a:rPr>
              <a:t> is a software application designed to simplify and automate hotel room booking, guest registration, and occupancy management. Traditional hotel management methods often rely on manual records, which can result in booking errors, delays, and difficulty in tracking room availability. This system provides a centralized platform for managing hotel operations efficiently.</a:t>
            </a:r>
            <a:endParaRPr lang="en-US" sz="1500" dirty="0"/>
          </a:p>
          <a:p>
            <a:pPr algn="l" indent="0" marL="0">
              <a:lnSpc>
                <a:spcPct val="100000"/>
              </a:lnSpc>
              <a:spcAft>
                <a:spcPts val="1050"/>
              </a:spcAft>
              <a:buNone/>
            </a:pPr>
            <a:r>
              <a:rPr lang="en-US" sz="1500" spc="-74" kern="100" dirty="0">
                <a:solidFill>
                  <a:srgbClr val="1F2933"/>
                </a:solidFill>
                <a:latin typeface="Inter" pitchFamily="34" charset="0"/>
                <a:ea typeface="Inter" pitchFamily="34" charset="-122"/>
                <a:cs typeface="Inter" pitchFamily="34" charset="-120"/>
              </a:rPr>
              <a:t>The application enables hotel staff to add, update, search, and manage room details such as room number, type, price, and availability. It also maintains guest information and supports room booking, check-in, and check-out processes. The system automatically updates room occupancy status, preventing double bookings and ensuring accurate room allocation. Users can quickly search for available rooms and access booking details whenever required.</a:t>
            </a:r>
            <a:endParaRPr lang="en-US" sz="1500" dirty="0"/>
          </a:p>
          <a:p>
            <a:pPr algn="l" indent="0" marL="0">
              <a:lnSpc>
                <a:spcPct val="100000"/>
              </a:lnSpc>
              <a:spcAft>
                <a:spcPts val="1050"/>
              </a:spcAft>
              <a:buNone/>
            </a:pPr>
            <a:r>
              <a:rPr lang="en-US" sz="1500" spc="-74" kern="100" dirty="0">
                <a:solidFill>
                  <a:srgbClr val="1F2933"/>
                </a:solidFill>
                <a:latin typeface="Inter" pitchFamily="34" charset="0"/>
                <a:ea typeface="Inter" pitchFamily="34" charset="-122"/>
                <a:cs typeface="Inter" pitchFamily="34" charset="-120"/>
              </a:rPr>
              <a:t>By automating routine hotel operations, the system reduces paperwork, minimizes human errors, saves time, and improves customer service. It provides a secure and organized method for maintaining guest records, booking history, and occupancy information. Future enhancements may include online booking, payment integration, billing generation, email notifications, and role-based access control.</a:t>
            </a:r>
            <a:endParaRPr lang="en-US" sz="1500" dirty="0"/>
          </a:p>
          <a:p>
            <a:pPr algn="l" indent="0" marL="0">
              <a:lnSpc>
                <a:spcPct val="100000"/>
              </a:lnSpc>
              <a:spcAft>
                <a:spcPts val="1050"/>
              </a:spcAft>
              <a:buNone/>
            </a:pPr>
            <a:r>
              <a:rPr lang="en-US" sz="1500" spc="-74" kern="100" dirty="0">
                <a:solidFill>
                  <a:srgbClr val="1F2933"/>
                </a:solidFill>
                <a:latin typeface="Inter" pitchFamily="34" charset="0"/>
                <a:ea typeface="Inter" pitchFamily="34" charset="-122"/>
                <a:cs typeface="Inter" pitchFamily="34" charset="-120"/>
              </a:rPr>
              <a:t>Overall, the </a:t>
            </a:r>
            <a:pPr algn="l" indent="0" marL="0">
              <a:lnSpc>
                <a:spcPct val="100000"/>
              </a:lnSpc>
              <a:spcAft>
                <a:spcPts val="1050"/>
              </a:spcAft>
              <a:buNone/>
            </a:pPr>
            <a:r>
              <a:rPr lang="en-US" sz="1500" b="1" spc="-74" kern="100" dirty="0">
                <a:solidFill>
                  <a:srgbClr val="1F2933"/>
                </a:solidFill>
                <a:latin typeface="Inter Bold" pitchFamily="34" charset="0"/>
                <a:ea typeface="Inter Bold" pitchFamily="34" charset="-122"/>
                <a:cs typeface="Inter Bold" pitchFamily="34" charset="-120"/>
              </a:rPr>
              <a:t>Hotel Booking and Occupancy Manager</a:t>
            </a:r>
            <a:pPr algn="l" indent="0" marL="0">
              <a:lnSpc>
                <a:spcPct val="100000"/>
              </a:lnSpc>
              <a:spcAft>
                <a:spcPts val="1050"/>
              </a:spcAft>
              <a:buNone/>
            </a:pPr>
            <a:r>
              <a:rPr lang="en-US" sz="1500" spc="-74" kern="100" dirty="0">
                <a:solidFill>
                  <a:srgbClr val="1F2933"/>
                </a:solidFill>
                <a:latin typeface="Inter" pitchFamily="34" charset="0"/>
                <a:ea typeface="Inter" pitchFamily="34" charset="-122"/>
                <a:cs typeface="Inter" pitchFamily="34" charset="-120"/>
              </a:rPr>
              <a:t> provides a simple, efficient, and user-friendly solution for managing hotel reservations and room occupancy while improving operational efficiency and enhancing the guest experience.</a:t>
            </a:r>
            <a:endParaRPr lang="en-US" sz="1500" dirty="0"/>
          </a:p>
          <a:p>
            <a:pPr algn="l" indent="0" marL="0">
              <a:lnSpc>
                <a:spcPct val="100000"/>
              </a:lnSpc>
              <a:buNone/>
            </a:pPr>
            <a:r>
              <a:rPr lang="en-US" sz="1500" b="1" spc="-74" kern="100" dirty="0">
                <a:solidFill>
                  <a:srgbClr val="1F2933"/>
                </a:solidFill>
                <a:latin typeface="Inter Bold" pitchFamily="34" charset="0"/>
                <a:ea typeface="Inter Bold" pitchFamily="34" charset="-122"/>
                <a:cs typeface="Inter Bold" pitchFamily="34" charset="-120"/>
              </a:rPr>
              <a:t>Keywords: </a:t>
            </a:r>
            <a:pPr algn="l" indent="0" marL="0">
              <a:lnSpc>
                <a:spcPct val="100000"/>
              </a:lnSpc>
              <a:buNone/>
            </a:pPr>
            <a:r>
              <a:rPr lang="en-US" sz="1500" spc="-74" kern="100" dirty="0">
                <a:solidFill>
                  <a:srgbClr val="1F2933"/>
                </a:solidFill>
                <a:latin typeface="Inter" pitchFamily="34" charset="0"/>
                <a:ea typeface="Inter" pitchFamily="34" charset="-122"/>
                <a:cs typeface="Inter" pitchFamily="34" charset="-120"/>
              </a:rPr>
              <a:t>Hotel Management, Room Booking, Occupancy Management, Guest Registration, Reservation System, Java.</a:t>
            </a:r>
            <a:endParaRPr lang="en-US" sz="1500" dirty="0"/>
          </a:p>
        </p:txBody>
      </p:sp>
      <p:sp>
        <p:nvSpPr>
          <p:cNvPr id="5" name="Text 2"/>
          <p:cNvSpPr/>
          <p:nvPr/>
        </p:nvSpPr>
        <p:spPr>
          <a:xfrm>
            <a:off x="929557" y="6447582"/>
            <a:ext cx="1431691"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15-10-2026</a:t>
            </a:r>
            <a:endParaRPr lang="en-US" sz="1200" dirty="0"/>
          </a:p>
        </p:txBody>
      </p:sp>
      <p:sp>
        <p:nvSpPr>
          <p:cNvPr id="6" name="Text 3"/>
          <p:cNvSpPr/>
          <p:nvPr/>
        </p:nvSpPr>
        <p:spPr>
          <a:xfrm>
            <a:off x="11169172" y="6447582"/>
            <a:ext cx="702550"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015" y="-164505"/>
            <a:ext cx="1215201" cy="1122363"/>
          </a:xfrm>
          <a:prstGeom prst="rect">
            <a:avLst/>
          </a:prstGeom>
        </p:spPr>
      </p:pic>
      <p:sp>
        <p:nvSpPr>
          <p:cNvPr id="3" name="Text 0"/>
          <p:cNvSpPr/>
          <p:nvPr/>
        </p:nvSpPr>
        <p:spPr>
          <a:xfrm>
            <a:off x="929557" y="684863"/>
            <a:ext cx="10366810" cy="602853"/>
          </a:xfrm>
          <a:prstGeom prst="rect">
            <a:avLst/>
          </a:prstGeom>
          <a:noFill/>
          <a:ln/>
        </p:spPr>
        <p:txBody>
          <a:bodyPr wrap="none" lIns="0" tIns="0" rIns="0" bIns="0" rtlCol="0" anchor="t"/>
          <a:lstStyle/>
          <a:p>
            <a:pPr algn="l" indent="0" marL="0">
              <a:lnSpc>
                <a:spcPct val="99000"/>
              </a:lnSpc>
              <a:buNone/>
            </a:pPr>
            <a:r>
              <a:rPr lang="en-US" sz="4000" spc="-153" kern="100" dirty="0">
                <a:solidFill>
                  <a:srgbClr val="000000"/>
                </a:solidFill>
                <a:latin typeface="Inter" pitchFamily="34" charset="0"/>
                <a:ea typeface="Inter" pitchFamily="34" charset="-122"/>
                <a:cs typeface="Inter" pitchFamily="34" charset="-120"/>
              </a:rPr>
              <a:t>Understanding Problem Statement</a:t>
            </a:r>
            <a:endParaRPr lang="en-US" sz="4000" dirty="0"/>
          </a:p>
        </p:txBody>
      </p:sp>
      <p:sp>
        <p:nvSpPr>
          <p:cNvPr id="4" name="Shape 1"/>
          <p:cNvSpPr/>
          <p:nvPr/>
        </p:nvSpPr>
        <p:spPr>
          <a:xfrm>
            <a:off x="685783" y="1600200"/>
            <a:ext cx="3453222" cy="4526260"/>
          </a:xfrm>
          <a:prstGeom prst="roundRect">
            <a:avLst>
              <a:gd name="adj" fmla="val 4802"/>
            </a:avLst>
          </a:prstGeom>
          <a:solidFill>
            <a:srgbClr val="F3F4F6"/>
          </a:solidFill>
          <a:ln/>
        </p:spPr>
      </p:sp>
      <p:sp>
        <p:nvSpPr>
          <p:cNvPr id="5" name="Shape 2"/>
          <p:cNvSpPr/>
          <p:nvPr/>
        </p:nvSpPr>
        <p:spPr>
          <a:xfrm>
            <a:off x="914377" y="1828800"/>
            <a:ext cx="502828" cy="502841"/>
          </a:xfrm>
          <a:prstGeom prst="ellipse">
            <a:avLst/>
          </a:prstGeom>
          <a:solidFill>
            <a:srgbClr val="A4152B"/>
          </a:solidFill>
          <a:ln/>
        </p:spPr>
      </p:sp>
      <p:sp>
        <p:nvSpPr>
          <p:cNvPr id="6" name="Text 3"/>
          <p:cNvSpPr/>
          <p:nvPr/>
        </p:nvSpPr>
        <p:spPr>
          <a:xfrm>
            <a:off x="987996"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1</a:t>
            </a:r>
            <a:endParaRPr lang="en-US" sz="2000" dirty="0"/>
          </a:p>
        </p:txBody>
      </p:sp>
      <p:sp>
        <p:nvSpPr>
          <p:cNvPr id="7" name="Text 4"/>
          <p:cNvSpPr/>
          <p:nvPr/>
        </p:nvSpPr>
        <p:spPr>
          <a:xfrm>
            <a:off x="1554421" y="1867317"/>
            <a:ext cx="244746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The Problem</a:t>
            </a:r>
            <a:endParaRPr lang="en-US" sz="2200" dirty="0"/>
          </a:p>
        </p:txBody>
      </p:sp>
      <p:sp>
        <p:nvSpPr>
          <p:cNvPr id="8" name="Text 5"/>
          <p:cNvSpPr/>
          <p:nvPr/>
        </p:nvSpPr>
        <p:spPr>
          <a:xfrm>
            <a:off x="914377" y="2592685"/>
            <a:ext cx="2948410" cy="1600200"/>
          </a:xfrm>
          <a:prstGeom prst="rect">
            <a:avLst/>
          </a:prstGeom>
          <a:noFill/>
          <a:ln/>
        </p:spPr>
        <p:txBody>
          <a:bodyPr wrap="square" lIns="0" tIns="0" rIns="0" bIns="0" rtlCol="0" anchor="t">
            <a:normAutofit/>
          </a:bodyPr>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Traditional hotel management relies on manual records</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Manual work causes booking errors and delays</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Room availability is difficult to track</a:t>
            </a:r>
            <a:endParaRPr lang="en-US" sz="1500" dirty="0"/>
          </a:p>
        </p:txBody>
      </p:sp>
      <p:sp>
        <p:nvSpPr>
          <p:cNvPr id="9" name="Shape 6"/>
          <p:cNvSpPr/>
          <p:nvPr/>
        </p:nvSpPr>
        <p:spPr>
          <a:xfrm>
            <a:off x="4367599" y="1600200"/>
            <a:ext cx="3453222" cy="4526260"/>
          </a:xfrm>
          <a:prstGeom prst="roundRect">
            <a:avLst>
              <a:gd name="adj" fmla="val 4802"/>
            </a:avLst>
          </a:prstGeom>
          <a:solidFill>
            <a:srgbClr val="F3F4F6"/>
          </a:solidFill>
          <a:ln/>
        </p:spPr>
      </p:sp>
      <p:sp>
        <p:nvSpPr>
          <p:cNvPr id="10" name="Shape 7"/>
          <p:cNvSpPr/>
          <p:nvPr/>
        </p:nvSpPr>
        <p:spPr>
          <a:xfrm>
            <a:off x="4596194" y="1828800"/>
            <a:ext cx="502828" cy="502841"/>
          </a:xfrm>
          <a:prstGeom prst="ellipse">
            <a:avLst/>
          </a:prstGeom>
          <a:solidFill>
            <a:srgbClr val="A4152B"/>
          </a:solidFill>
          <a:ln/>
        </p:spPr>
      </p:sp>
      <p:sp>
        <p:nvSpPr>
          <p:cNvPr id="11" name="Text 8"/>
          <p:cNvSpPr/>
          <p:nvPr/>
        </p:nvSpPr>
        <p:spPr>
          <a:xfrm>
            <a:off x="4669812"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2</a:t>
            </a:r>
            <a:endParaRPr lang="en-US" sz="2000" dirty="0"/>
          </a:p>
        </p:txBody>
      </p:sp>
      <p:sp>
        <p:nvSpPr>
          <p:cNvPr id="12" name="Text 9"/>
          <p:cNvSpPr/>
          <p:nvPr/>
        </p:nvSpPr>
        <p:spPr>
          <a:xfrm>
            <a:off x="5236238" y="1867317"/>
            <a:ext cx="244746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Our Solution</a:t>
            </a:r>
            <a:endParaRPr lang="en-US" sz="2200" dirty="0"/>
          </a:p>
        </p:txBody>
      </p:sp>
      <p:sp>
        <p:nvSpPr>
          <p:cNvPr id="13" name="Text 10"/>
          <p:cNvSpPr/>
          <p:nvPr/>
        </p:nvSpPr>
        <p:spPr>
          <a:xfrm>
            <a:off x="4596194" y="2592685"/>
            <a:ext cx="2948410" cy="2628900"/>
          </a:xfrm>
          <a:prstGeom prst="rect">
            <a:avLst/>
          </a:prstGeom>
          <a:noFill/>
          <a:ln/>
        </p:spPr>
        <p:txBody>
          <a:bodyPr wrap="square" lIns="0" tIns="0" rIns="0" bIns="0" rtlCol="0" anchor="t">
            <a:normAutofit/>
          </a:bodyPr>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A centralized platform to manage hotel operations efficiently</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Add, update, search and manage rooms: number, type, price, availability</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Guest registration, room booking, check-in and check-out</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Occupancy status updates automatically, preventing double bookings</a:t>
            </a:r>
            <a:endParaRPr lang="en-US" sz="1500" dirty="0"/>
          </a:p>
        </p:txBody>
      </p:sp>
      <p:sp>
        <p:nvSpPr>
          <p:cNvPr id="14" name="Shape 11"/>
          <p:cNvSpPr/>
          <p:nvPr/>
        </p:nvSpPr>
        <p:spPr>
          <a:xfrm>
            <a:off x="8049515" y="1600200"/>
            <a:ext cx="3453222" cy="4526260"/>
          </a:xfrm>
          <a:prstGeom prst="roundRect">
            <a:avLst>
              <a:gd name="adj" fmla="val 4802"/>
            </a:avLst>
          </a:prstGeom>
          <a:solidFill>
            <a:srgbClr val="F3F4F6"/>
          </a:solidFill>
          <a:ln/>
        </p:spPr>
      </p:sp>
      <p:sp>
        <p:nvSpPr>
          <p:cNvPr id="15" name="Shape 12"/>
          <p:cNvSpPr/>
          <p:nvPr/>
        </p:nvSpPr>
        <p:spPr>
          <a:xfrm>
            <a:off x="8278109" y="1828800"/>
            <a:ext cx="502828" cy="502841"/>
          </a:xfrm>
          <a:prstGeom prst="ellipse">
            <a:avLst/>
          </a:prstGeom>
          <a:solidFill>
            <a:srgbClr val="A4152B"/>
          </a:solidFill>
          <a:ln/>
        </p:spPr>
      </p:sp>
      <p:sp>
        <p:nvSpPr>
          <p:cNvPr id="16" name="Text 13"/>
          <p:cNvSpPr/>
          <p:nvPr/>
        </p:nvSpPr>
        <p:spPr>
          <a:xfrm>
            <a:off x="8351728"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3</a:t>
            </a:r>
            <a:endParaRPr lang="en-US" sz="2000" dirty="0"/>
          </a:p>
        </p:txBody>
      </p:sp>
      <p:sp>
        <p:nvSpPr>
          <p:cNvPr id="17" name="Text 14"/>
          <p:cNvSpPr/>
          <p:nvPr/>
        </p:nvSpPr>
        <p:spPr>
          <a:xfrm>
            <a:off x="8918153" y="1867317"/>
            <a:ext cx="244746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The Benefit</a:t>
            </a:r>
            <a:endParaRPr lang="en-US" sz="2200" dirty="0"/>
          </a:p>
        </p:txBody>
      </p:sp>
      <p:sp>
        <p:nvSpPr>
          <p:cNvPr id="18" name="Text 15"/>
          <p:cNvSpPr/>
          <p:nvPr/>
        </p:nvSpPr>
        <p:spPr>
          <a:xfrm>
            <a:off x="8278109" y="2592685"/>
            <a:ext cx="2948410" cy="1828800"/>
          </a:xfrm>
          <a:prstGeom prst="rect">
            <a:avLst/>
          </a:prstGeom>
          <a:noFill/>
          <a:ln/>
        </p:spPr>
        <p:txBody>
          <a:bodyPr wrap="square" lIns="0" tIns="0" rIns="0" bIns="0" rtlCol="0" anchor="t">
            <a:normAutofit/>
          </a:bodyPr>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Less paperwork and fewer human errors</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Saves time and improves customer service</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Secure, organized guest records, booking history and occupancy information</a:t>
            </a:r>
            <a:endParaRPr lang="en-US" sz="1500" dirty="0"/>
          </a:p>
        </p:txBody>
      </p:sp>
      <p:sp>
        <p:nvSpPr>
          <p:cNvPr id="19" name="Text 16"/>
          <p:cNvSpPr/>
          <p:nvPr/>
        </p:nvSpPr>
        <p:spPr>
          <a:xfrm>
            <a:off x="929557" y="6447582"/>
            <a:ext cx="1431691"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15-10-2026</a:t>
            </a:r>
            <a:endParaRPr lang="en-US" sz="1200" dirty="0"/>
          </a:p>
        </p:txBody>
      </p:sp>
      <p:sp>
        <p:nvSpPr>
          <p:cNvPr id="20" name="Text 17"/>
          <p:cNvSpPr/>
          <p:nvPr/>
        </p:nvSpPr>
        <p:spPr>
          <a:xfrm>
            <a:off x="11167982" y="6447582"/>
            <a:ext cx="703741"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015" y="-164505"/>
            <a:ext cx="1215201" cy="1122363"/>
          </a:xfrm>
          <a:prstGeom prst="rect">
            <a:avLst/>
          </a:prstGeom>
        </p:spPr>
      </p:pic>
      <p:sp>
        <p:nvSpPr>
          <p:cNvPr id="3" name="Text 0"/>
          <p:cNvSpPr/>
          <p:nvPr/>
        </p:nvSpPr>
        <p:spPr>
          <a:xfrm>
            <a:off x="929557" y="684863"/>
            <a:ext cx="10366810" cy="602853"/>
          </a:xfrm>
          <a:prstGeom prst="rect">
            <a:avLst/>
          </a:prstGeom>
          <a:noFill/>
          <a:ln/>
        </p:spPr>
        <p:txBody>
          <a:bodyPr wrap="none" lIns="0" tIns="0" rIns="0" bIns="0" rtlCol="0" anchor="t"/>
          <a:lstStyle/>
          <a:p>
            <a:pPr algn="l" indent="0" marL="0">
              <a:lnSpc>
                <a:spcPct val="99000"/>
              </a:lnSpc>
              <a:buNone/>
            </a:pPr>
            <a:r>
              <a:rPr lang="en-US" sz="4000" spc="-153" kern="100" dirty="0">
                <a:solidFill>
                  <a:srgbClr val="000000"/>
                </a:solidFill>
                <a:latin typeface="Inter" pitchFamily="34" charset="0"/>
                <a:ea typeface="Inter" pitchFamily="34" charset="-122"/>
                <a:cs typeface="Inter" pitchFamily="34" charset="-120"/>
              </a:rPr>
              <a:t>CO 1 Topics</a:t>
            </a:r>
            <a:endParaRPr lang="en-US" sz="4000" dirty="0"/>
          </a:p>
        </p:txBody>
      </p:sp>
      <p:sp>
        <p:nvSpPr>
          <p:cNvPr id="4" name="Shape 1"/>
          <p:cNvSpPr/>
          <p:nvPr/>
        </p:nvSpPr>
        <p:spPr>
          <a:xfrm>
            <a:off x="685783" y="1600200"/>
            <a:ext cx="5294180" cy="4526260"/>
          </a:xfrm>
          <a:prstGeom prst="roundRect">
            <a:avLst>
              <a:gd name="adj" fmla="val 4801"/>
            </a:avLst>
          </a:prstGeom>
          <a:solidFill>
            <a:srgbClr val="F3F4F6"/>
          </a:solidFill>
          <a:ln/>
        </p:spPr>
      </p:sp>
      <p:sp>
        <p:nvSpPr>
          <p:cNvPr id="5" name="Shape 2"/>
          <p:cNvSpPr/>
          <p:nvPr/>
        </p:nvSpPr>
        <p:spPr>
          <a:xfrm>
            <a:off x="914377" y="1828800"/>
            <a:ext cx="502828" cy="502841"/>
          </a:xfrm>
          <a:prstGeom prst="ellipse">
            <a:avLst/>
          </a:prstGeom>
          <a:solidFill>
            <a:srgbClr val="A4152B"/>
          </a:solidFill>
          <a:ln/>
        </p:spPr>
      </p:sp>
      <p:sp>
        <p:nvSpPr>
          <p:cNvPr id="6" name="Text 3"/>
          <p:cNvSpPr/>
          <p:nvPr/>
        </p:nvSpPr>
        <p:spPr>
          <a:xfrm>
            <a:off x="987996"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1</a:t>
            </a:r>
            <a:endParaRPr lang="en-US" sz="2000" dirty="0"/>
          </a:p>
        </p:txBody>
      </p:sp>
      <p:sp>
        <p:nvSpPr>
          <p:cNvPr id="7" name="Text 4"/>
          <p:cNvSpPr/>
          <p:nvPr/>
        </p:nvSpPr>
        <p:spPr>
          <a:xfrm>
            <a:off x="1554421" y="1867317"/>
            <a:ext cx="419694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Basics</a:t>
            </a:r>
            <a:endParaRPr lang="en-US" sz="2200" dirty="0"/>
          </a:p>
        </p:txBody>
      </p:sp>
      <p:sp>
        <p:nvSpPr>
          <p:cNvPr id="8" name="Text 5"/>
          <p:cNvSpPr/>
          <p:nvPr/>
        </p:nvSpPr>
        <p:spPr>
          <a:xfrm>
            <a:off x="914377" y="2592685"/>
            <a:ext cx="4789368" cy="571500"/>
          </a:xfrm>
          <a:prstGeom prst="rect">
            <a:avLst/>
          </a:prstGeom>
          <a:noFill/>
          <a:ln/>
        </p:spPr>
        <p:txBody>
          <a:bodyPr wrap="square" lIns="0" tIns="0" rIns="0" bIns="0" rtlCol="0" anchor="t">
            <a:normAutofit/>
          </a:bodyPr>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Datatypes</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Variables</a:t>
            </a:r>
            <a:endParaRPr lang="en-US" sz="1500" dirty="0"/>
          </a:p>
        </p:txBody>
      </p:sp>
      <p:sp>
        <p:nvSpPr>
          <p:cNvPr id="9" name="Shape 6"/>
          <p:cNvSpPr/>
          <p:nvPr/>
        </p:nvSpPr>
        <p:spPr>
          <a:xfrm>
            <a:off x="6208557" y="1600200"/>
            <a:ext cx="5294180" cy="4526260"/>
          </a:xfrm>
          <a:prstGeom prst="roundRect">
            <a:avLst>
              <a:gd name="adj" fmla="val 4801"/>
            </a:avLst>
          </a:prstGeom>
          <a:solidFill>
            <a:srgbClr val="F3F4F6"/>
          </a:solidFill>
          <a:ln/>
        </p:spPr>
      </p:sp>
      <p:sp>
        <p:nvSpPr>
          <p:cNvPr id="10" name="Shape 7"/>
          <p:cNvSpPr/>
          <p:nvPr/>
        </p:nvSpPr>
        <p:spPr>
          <a:xfrm>
            <a:off x="6437151" y="1828800"/>
            <a:ext cx="502828" cy="502841"/>
          </a:xfrm>
          <a:prstGeom prst="ellipse">
            <a:avLst/>
          </a:prstGeom>
          <a:solidFill>
            <a:srgbClr val="A4152B"/>
          </a:solidFill>
          <a:ln/>
        </p:spPr>
      </p:sp>
      <p:sp>
        <p:nvSpPr>
          <p:cNvPr id="11" name="Text 8"/>
          <p:cNvSpPr/>
          <p:nvPr/>
        </p:nvSpPr>
        <p:spPr>
          <a:xfrm>
            <a:off x="6510770"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2</a:t>
            </a:r>
            <a:endParaRPr lang="en-US" sz="2000" dirty="0"/>
          </a:p>
        </p:txBody>
      </p:sp>
      <p:sp>
        <p:nvSpPr>
          <p:cNvPr id="12" name="Text 9"/>
          <p:cNvSpPr/>
          <p:nvPr/>
        </p:nvSpPr>
        <p:spPr>
          <a:xfrm>
            <a:off x="7077196" y="1867317"/>
            <a:ext cx="419694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Operators</a:t>
            </a:r>
            <a:endParaRPr lang="en-US" sz="2200" dirty="0"/>
          </a:p>
        </p:txBody>
      </p:sp>
      <p:sp>
        <p:nvSpPr>
          <p:cNvPr id="13" name="Text 10"/>
          <p:cNvSpPr/>
          <p:nvPr/>
        </p:nvSpPr>
        <p:spPr>
          <a:xfrm>
            <a:off x="6437151" y="2592685"/>
            <a:ext cx="4789368" cy="571500"/>
          </a:xfrm>
          <a:prstGeom prst="rect">
            <a:avLst/>
          </a:prstGeom>
          <a:noFill/>
          <a:ln/>
        </p:spPr>
        <p:txBody>
          <a:bodyPr wrap="square" lIns="0" tIns="0" rIns="0" bIns="0" rtlCol="0" anchor="t">
            <a:normAutofit/>
          </a:bodyPr>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Arithmetic operators</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Relational operators</a:t>
            </a:r>
            <a:endParaRPr lang="en-US" sz="1500" dirty="0"/>
          </a:p>
        </p:txBody>
      </p:sp>
      <p:pic>
        <p:nvPicPr>
          <p:cNvPr id="14" name="Image 1" descr="preencoded.png">    </p:cNvPr>
          <p:cNvPicPr>
            <a:picLocks noChangeAspect="1"/>
          </p:cNvPicPr>
          <p:nvPr/>
        </p:nvPicPr>
        <p:blipFill>
          <a:blip r:embed="rId2"/>
          <a:stretch>
            <a:fillRect/>
          </a:stretch>
        </p:blipFill>
        <p:spPr>
          <a:xfrm>
            <a:off x="1289216" y="3429000"/>
            <a:ext cx="2942258" cy="1536700"/>
          </a:xfrm>
          <a:prstGeom prst="rect">
            <a:avLst/>
          </a:prstGeom>
        </p:spPr>
      </p:pic>
      <p:pic>
        <p:nvPicPr>
          <p:cNvPr id="15" name="Image 2" descr="preencoded.png">    </p:cNvPr>
          <p:cNvPicPr>
            <a:picLocks noChangeAspect="1"/>
          </p:cNvPicPr>
          <p:nvPr/>
        </p:nvPicPr>
        <p:blipFill>
          <a:blip r:embed="rId3"/>
          <a:stretch>
            <a:fillRect/>
          </a:stretch>
        </p:blipFill>
        <p:spPr>
          <a:xfrm>
            <a:off x="6940079" y="3422452"/>
            <a:ext cx="3603138" cy="1543050"/>
          </a:xfrm>
          <a:prstGeom prst="rect">
            <a:avLst/>
          </a:prstGeom>
        </p:spPr>
      </p:pic>
      <p:sp>
        <p:nvSpPr>
          <p:cNvPr id="16" name="Text 11"/>
          <p:cNvSpPr/>
          <p:nvPr/>
        </p:nvSpPr>
        <p:spPr>
          <a:xfrm>
            <a:off x="929557" y="6447582"/>
            <a:ext cx="1431691"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15-10-2026</a:t>
            </a:r>
            <a:endParaRPr lang="en-US" sz="1200" dirty="0"/>
          </a:p>
        </p:txBody>
      </p:sp>
      <p:sp>
        <p:nvSpPr>
          <p:cNvPr id="17" name="Text 12"/>
          <p:cNvSpPr/>
          <p:nvPr/>
        </p:nvSpPr>
        <p:spPr>
          <a:xfrm>
            <a:off x="11163616" y="6447582"/>
            <a:ext cx="708107"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015" y="-164505"/>
            <a:ext cx="1215201" cy="1122363"/>
          </a:xfrm>
          <a:prstGeom prst="rect">
            <a:avLst/>
          </a:prstGeom>
        </p:spPr>
      </p:pic>
      <p:sp>
        <p:nvSpPr>
          <p:cNvPr id="3" name="Text 0"/>
          <p:cNvSpPr/>
          <p:nvPr/>
        </p:nvSpPr>
        <p:spPr>
          <a:xfrm>
            <a:off x="929557" y="684863"/>
            <a:ext cx="10366810" cy="602853"/>
          </a:xfrm>
          <a:prstGeom prst="rect">
            <a:avLst/>
          </a:prstGeom>
          <a:noFill/>
          <a:ln/>
        </p:spPr>
        <p:txBody>
          <a:bodyPr wrap="none" lIns="0" tIns="0" rIns="0" bIns="0" rtlCol="0" anchor="t"/>
          <a:lstStyle/>
          <a:p>
            <a:pPr algn="l" indent="0" marL="0">
              <a:lnSpc>
                <a:spcPct val="99000"/>
              </a:lnSpc>
              <a:buNone/>
            </a:pPr>
            <a:r>
              <a:rPr lang="en-US" sz="4000" spc="-153" kern="100" dirty="0">
                <a:solidFill>
                  <a:srgbClr val="000000"/>
                </a:solidFill>
                <a:latin typeface="Inter" pitchFamily="34" charset="0"/>
                <a:ea typeface="Inter" pitchFamily="34" charset="-122"/>
                <a:cs typeface="Inter" pitchFamily="34" charset="-120"/>
              </a:rPr>
              <a:t>CO 2 Topics</a:t>
            </a:r>
            <a:endParaRPr lang="en-US" sz="4000" dirty="0"/>
          </a:p>
        </p:txBody>
      </p:sp>
      <p:sp>
        <p:nvSpPr>
          <p:cNvPr id="4" name="Shape 1"/>
          <p:cNvSpPr/>
          <p:nvPr/>
        </p:nvSpPr>
        <p:spPr>
          <a:xfrm>
            <a:off x="685783" y="1600200"/>
            <a:ext cx="5294180" cy="4526260"/>
          </a:xfrm>
          <a:prstGeom prst="roundRect">
            <a:avLst>
              <a:gd name="adj" fmla="val 4801"/>
            </a:avLst>
          </a:prstGeom>
          <a:solidFill>
            <a:srgbClr val="F3F4F6"/>
          </a:solidFill>
          <a:ln/>
        </p:spPr>
      </p:sp>
      <p:sp>
        <p:nvSpPr>
          <p:cNvPr id="5" name="Shape 2"/>
          <p:cNvSpPr/>
          <p:nvPr/>
        </p:nvSpPr>
        <p:spPr>
          <a:xfrm>
            <a:off x="914377" y="1828800"/>
            <a:ext cx="502828" cy="502841"/>
          </a:xfrm>
          <a:prstGeom prst="ellipse">
            <a:avLst/>
          </a:prstGeom>
          <a:solidFill>
            <a:srgbClr val="A4152B"/>
          </a:solidFill>
          <a:ln/>
        </p:spPr>
      </p:sp>
      <p:sp>
        <p:nvSpPr>
          <p:cNvPr id="6" name="Text 3"/>
          <p:cNvSpPr/>
          <p:nvPr/>
        </p:nvSpPr>
        <p:spPr>
          <a:xfrm>
            <a:off x="987996"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1</a:t>
            </a:r>
            <a:endParaRPr lang="en-US" sz="2000" dirty="0"/>
          </a:p>
        </p:txBody>
      </p:sp>
      <p:sp>
        <p:nvSpPr>
          <p:cNvPr id="7" name="Text 4"/>
          <p:cNvSpPr/>
          <p:nvPr/>
        </p:nvSpPr>
        <p:spPr>
          <a:xfrm>
            <a:off x="1554421" y="1867317"/>
            <a:ext cx="419694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Decision Making</a:t>
            </a:r>
            <a:endParaRPr lang="en-US" sz="2200" dirty="0"/>
          </a:p>
        </p:txBody>
      </p:sp>
      <p:sp>
        <p:nvSpPr>
          <p:cNvPr id="8" name="Text 5"/>
          <p:cNvSpPr/>
          <p:nvPr/>
        </p:nvSpPr>
        <p:spPr>
          <a:xfrm>
            <a:off x="914377" y="2592685"/>
            <a:ext cx="5398952" cy="228600"/>
          </a:xfrm>
          <a:prstGeom prst="rect">
            <a:avLst/>
          </a:prstGeom>
          <a:noFill/>
          <a:ln/>
        </p:spPr>
        <p:txBody>
          <a:bodyPr wrap="none" lIns="0" tIns="0" rIns="0" bIns="0" rtlCol="0" anchor="t"/>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if-else ladder</a:t>
            </a:r>
            <a:endParaRPr lang="en-US" sz="1500" dirty="0"/>
          </a:p>
        </p:txBody>
      </p:sp>
      <p:sp>
        <p:nvSpPr>
          <p:cNvPr id="9" name="Shape 6"/>
          <p:cNvSpPr/>
          <p:nvPr/>
        </p:nvSpPr>
        <p:spPr>
          <a:xfrm>
            <a:off x="6208557" y="1600200"/>
            <a:ext cx="5294180" cy="4526260"/>
          </a:xfrm>
          <a:prstGeom prst="roundRect">
            <a:avLst>
              <a:gd name="adj" fmla="val 4801"/>
            </a:avLst>
          </a:prstGeom>
          <a:solidFill>
            <a:srgbClr val="F3F4F6"/>
          </a:solidFill>
          <a:ln/>
        </p:spPr>
      </p:sp>
      <p:sp>
        <p:nvSpPr>
          <p:cNvPr id="10" name="Shape 7"/>
          <p:cNvSpPr/>
          <p:nvPr/>
        </p:nvSpPr>
        <p:spPr>
          <a:xfrm>
            <a:off x="6437151" y="1828800"/>
            <a:ext cx="502828" cy="502841"/>
          </a:xfrm>
          <a:prstGeom prst="ellipse">
            <a:avLst/>
          </a:prstGeom>
          <a:solidFill>
            <a:srgbClr val="A4152B"/>
          </a:solidFill>
          <a:ln/>
        </p:spPr>
      </p:sp>
      <p:sp>
        <p:nvSpPr>
          <p:cNvPr id="11" name="Text 8"/>
          <p:cNvSpPr/>
          <p:nvPr/>
        </p:nvSpPr>
        <p:spPr>
          <a:xfrm>
            <a:off x="6510770"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2</a:t>
            </a:r>
            <a:endParaRPr lang="en-US" sz="2000" dirty="0"/>
          </a:p>
        </p:txBody>
      </p:sp>
      <p:sp>
        <p:nvSpPr>
          <p:cNvPr id="12" name="Text 9"/>
          <p:cNvSpPr/>
          <p:nvPr/>
        </p:nvSpPr>
        <p:spPr>
          <a:xfrm>
            <a:off x="7077196" y="1867317"/>
            <a:ext cx="419694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Loops</a:t>
            </a:r>
            <a:endParaRPr lang="en-US" sz="2200" dirty="0"/>
          </a:p>
        </p:txBody>
      </p:sp>
      <p:sp>
        <p:nvSpPr>
          <p:cNvPr id="13" name="Text 10"/>
          <p:cNvSpPr/>
          <p:nvPr/>
        </p:nvSpPr>
        <p:spPr>
          <a:xfrm>
            <a:off x="6437151" y="2592685"/>
            <a:ext cx="4789368" cy="571500"/>
          </a:xfrm>
          <a:prstGeom prst="rect">
            <a:avLst/>
          </a:prstGeom>
          <a:noFill/>
          <a:ln/>
        </p:spPr>
        <p:txBody>
          <a:bodyPr wrap="square" lIns="0" tIns="0" rIns="0" bIns="0" rtlCol="0" anchor="t">
            <a:normAutofit/>
          </a:bodyPr>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for loop</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break</a:t>
            </a:r>
            <a:endParaRPr lang="en-US" sz="1500" dirty="0"/>
          </a:p>
        </p:txBody>
      </p:sp>
      <p:pic>
        <p:nvPicPr>
          <p:cNvPr id="14" name="Image 1" descr="preencoded.png">    </p:cNvPr>
          <p:cNvPicPr>
            <a:picLocks noChangeAspect="1"/>
          </p:cNvPicPr>
          <p:nvPr/>
        </p:nvPicPr>
        <p:blipFill>
          <a:blip r:embed="rId2"/>
          <a:stretch>
            <a:fillRect/>
          </a:stretch>
        </p:blipFill>
        <p:spPr>
          <a:xfrm>
            <a:off x="1417205" y="3429000"/>
            <a:ext cx="3521384" cy="1066800"/>
          </a:xfrm>
          <a:prstGeom prst="rect">
            <a:avLst/>
          </a:prstGeom>
        </p:spPr>
      </p:pic>
      <p:pic>
        <p:nvPicPr>
          <p:cNvPr id="15" name="Image 2" descr="preencoded.png">    </p:cNvPr>
          <p:cNvPicPr>
            <a:picLocks noChangeAspect="1"/>
          </p:cNvPicPr>
          <p:nvPr/>
        </p:nvPicPr>
        <p:blipFill>
          <a:blip r:embed="rId3"/>
          <a:stretch>
            <a:fillRect/>
          </a:stretch>
        </p:blipFill>
        <p:spPr>
          <a:xfrm>
            <a:off x="6698586" y="3608487"/>
            <a:ext cx="4314122" cy="1368623"/>
          </a:xfrm>
          <a:prstGeom prst="rect">
            <a:avLst/>
          </a:prstGeom>
        </p:spPr>
      </p:pic>
      <p:sp>
        <p:nvSpPr>
          <p:cNvPr id="16" name="Text 11"/>
          <p:cNvSpPr/>
          <p:nvPr/>
        </p:nvSpPr>
        <p:spPr>
          <a:xfrm>
            <a:off x="929557" y="6447582"/>
            <a:ext cx="1431691"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15-10-2026</a:t>
            </a:r>
            <a:endParaRPr lang="en-US" sz="1200" dirty="0"/>
          </a:p>
        </p:txBody>
      </p:sp>
      <p:sp>
        <p:nvSpPr>
          <p:cNvPr id="17" name="Text 12"/>
          <p:cNvSpPr/>
          <p:nvPr/>
        </p:nvSpPr>
        <p:spPr>
          <a:xfrm>
            <a:off x="11171653" y="6447582"/>
            <a:ext cx="700070"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015" y="-164505"/>
            <a:ext cx="1215201" cy="1122363"/>
          </a:xfrm>
          <a:prstGeom prst="rect">
            <a:avLst/>
          </a:prstGeom>
        </p:spPr>
      </p:pic>
      <p:sp>
        <p:nvSpPr>
          <p:cNvPr id="3" name="Text 0"/>
          <p:cNvSpPr/>
          <p:nvPr/>
        </p:nvSpPr>
        <p:spPr>
          <a:xfrm>
            <a:off x="929557" y="684863"/>
            <a:ext cx="10366810" cy="602853"/>
          </a:xfrm>
          <a:prstGeom prst="rect">
            <a:avLst/>
          </a:prstGeom>
          <a:noFill/>
          <a:ln/>
        </p:spPr>
        <p:txBody>
          <a:bodyPr wrap="none" lIns="0" tIns="0" rIns="0" bIns="0" rtlCol="0" anchor="t"/>
          <a:lstStyle/>
          <a:p>
            <a:pPr algn="l" indent="0" marL="0">
              <a:lnSpc>
                <a:spcPct val="99000"/>
              </a:lnSpc>
              <a:buNone/>
            </a:pPr>
            <a:r>
              <a:rPr lang="en-US" sz="4000" spc="-153" kern="100" dirty="0">
                <a:solidFill>
                  <a:srgbClr val="000000"/>
                </a:solidFill>
                <a:latin typeface="Inter" pitchFamily="34" charset="0"/>
                <a:ea typeface="Inter" pitchFamily="34" charset="-122"/>
                <a:cs typeface="Inter" pitchFamily="34" charset="-120"/>
              </a:rPr>
              <a:t>CO 3 Topics</a:t>
            </a:r>
            <a:endParaRPr lang="en-US" sz="4000" dirty="0"/>
          </a:p>
        </p:txBody>
      </p:sp>
      <p:sp>
        <p:nvSpPr>
          <p:cNvPr id="4" name="Shape 1"/>
          <p:cNvSpPr/>
          <p:nvPr/>
        </p:nvSpPr>
        <p:spPr>
          <a:xfrm>
            <a:off x="685783" y="1600200"/>
            <a:ext cx="5294180" cy="4526260"/>
          </a:xfrm>
          <a:prstGeom prst="roundRect">
            <a:avLst>
              <a:gd name="adj" fmla="val 4801"/>
            </a:avLst>
          </a:prstGeom>
          <a:solidFill>
            <a:srgbClr val="F3F4F6"/>
          </a:solidFill>
          <a:ln/>
        </p:spPr>
      </p:sp>
      <p:sp>
        <p:nvSpPr>
          <p:cNvPr id="5" name="Shape 2"/>
          <p:cNvSpPr/>
          <p:nvPr/>
        </p:nvSpPr>
        <p:spPr>
          <a:xfrm>
            <a:off x="914377" y="1828800"/>
            <a:ext cx="502828" cy="502841"/>
          </a:xfrm>
          <a:prstGeom prst="ellipse">
            <a:avLst/>
          </a:prstGeom>
          <a:solidFill>
            <a:srgbClr val="A4152B"/>
          </a:solidFill>
          <a:ln/>
        </p:spPr>
      </p:sp>
      <p:sp>
        <p:nvSpPr>
          <p:cNvPr id="6" name="Text 3"/>
          <p:cNvSpPr/>
          <p:nvPr/>
        </p:nvSpPr>
        <p:spPr>
          <a:xfrm>
            <a:off x="987996"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1</a:t>
            </a:r>
            <a:endParaRPr lang="en-US" sz="2000" dirty="0"/>
          </a:p>
        </p:txBody>
      </p:sp>
      <p:sp>
        <p:nvSpPr>
          <p:cNvPr id="7" name="Text 4"/>
          <p:cNvSpPr/>
          <p:nvPr/>
        </p:nvSpPr>
        <p:spPr>
          <a:xfrm>
            <a:off x="1554421" y="1867317"/>
            <a:ext cx="419694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Methods</a:t>
            </a:r>
            <a:endParaRPr lang="en-US" sz="2200" dirty="0"/>
          </a:p>
        </p:txBody>
      </p:sp>
      <p:sp>
        <p:nvSpPr>
          <p:cNvPr id="8" name="Text 5"/>
          <p:cNvSpPr/>
          <p:nvPr/>
        </p:nvSpPr>
        <p:spPr>
          <a:xfrm>
            <a:off x="914377" y="2592685"/>
            <a:ext cx="5398952" cy="228600"/>
          </a:xfrm>
          <a:prstGeom prst="rect">
            <a:avLst/>
          </a:prstGeom>
          <a:noFill/>
          <a:ln/>
        </p:spPr>
        <p:txBody>
          <a:bodyPr wrap="none" lIns="0" tIns="0" rIns="0" bIns="0" rtlCol="0" anchor="t"/>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Return value</a:t>
            </a:r>
            <a:endParaRPr lang="en-US" sz="1500" dirty="0"/>
          </a:p>
        </p:txBody>
      </p:sp>
      <p:sp>
        <p:nvSpPr>
          <p:cNvPr id="9" name="Shape 6"/>
          <p:cNvSpPr/>
          <p:nvPr/>
        </p:nvSpPr>
        <p:spPr>
          <a:xfrm>
            <a:off x="6208557" y="1600200"/>
            <a:ext cx="5294180" cy="4526260"/>
          </a:xfrm>
          <a:prstGeom prst="roundRect">
            <a:avLst>
              <a:gd name="adj" fmla="val 4801"/>
            </a:avLst>
          </a:prstGeom>
          <a:solidFill>
            <a:srgbClr val="F3F4F6"/>
          </a:solidFill>
          <a:ln/>
        </p:spPr>
      </p:sp>
      <p:sp>
        <p:nvSpPr>
          <p:cNvPr id="10" name="Shape 7"/>
          <p:cNvSpPr/>
          <p:nvPr/>
        </p:nvSpPr>
        <p:spPr>
          <a:xfrm>
            <a:off x="6437151" y="1828800"/>
            <a:ext cx="502828" cy="502841"/>
          </a:xfrm>
          <a:prstGeom prst="ellipse">
            <a:avLst/>
          </a:prstGeom>
          <a:solidFill>
            <a:srgbClr val="A4152B"/>
          </a:solidFill>
          <a:ln/>
        </p:spPr>
      </p:sp>
      <p:sp>
        <p:nvSpPr>
          <p:cNvPr id="11" name="Text 8"/>
          <p:cNvSpPr/>
          <p:nvPr/>
        </p:nvSpPr>
        <p:spPr>
          <a:xfrm>
            <a:off x="6510770"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2</a:t>
            </a:r>
            <a:endParaRPr lang="en-US" sz="2000" dirty="0"/>
          </a:p>
        </p:txBody>
      </p:sp>
      <p:sp>
        <p:nvSpPr>
          <p:cNvPr id="12" name="Text 9"/>
          <p:cNvSpPr/>
          <p:nvPr/>
        </p:nvSpPr>
        <p:spPr>
          <a:xfrm>
            <a:off x="7077196" y="1867317"/>
            <a:ext cx="419694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Arrays</a:t>
            </a:r>
            <a:endParaRPr lang="en-US" sz="2200" dirty="0"/>
          </a:p>
        </p:txBody>
      </p:sp>
      <p:sp>
        <p:nvSpPr>
          <p:cNvPr id="13" name="Text 10"/>
          <p:cNvSpPr/>
          <p:nvPr/>
        </p:nvSpPr>
        <p:spPr>
          <a:xfrm>
            <a:off x="6437151" y="2592685"/>
            <a:ext cx="5398952" cy="228600"/>
          </a:xfrm>
          <a:prstGeom prst="rect">
            <a:avLst/>
          </a:prstGeom>
          <a:noFill/>
          <a:ln/>
        </p:spPr>
        <p:txBody>
          <a:bodyPr wrap="none" lIns="0" tIns="0" rIns="0" bIns="0" rtlCol="0" anchor="t"/>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1D array</a:t>
            </a:r>
            <a:endParaRPr lang="en-US" sz="1500" dirty="0"/>
          </a:p>
        </p:txBody>
      </p:sp>
      <p:pic>
        <p:nvPicPr>
          <p:cNvPr id="14" name="Image 1" descr="preencoded.png">    </p:cNvPr>
          <p:cNvPicPr>
            <a:picLocks noChangeAspect="1"/>
          </p:cNvPicPr>
          <p:nvPr/>
        </p:nvPicPr>
        <p:blipFill>
          <a:blip r:embed="rId2"/>
          <a:stretch>
            <a:fillRect/>
          </a:stretch>
        </p:blipFill>
        <p:spPr>
          <a:xfrm>
            <a:off x="1165791" y="3239393"/>
            <a:ext cx="4275725" cy="1695252"/>
          </a:xfrm>
          <a:prstGeom prst="rect">
            <a:avLst/>
          </a:prstGeom>
        </p:spPr>
      </p:pic>
      <p:pic>
        <p:nvPicPr>
          <p:cNvPr id="15" name="Image 2" descr="preencoded.png">    </p:cNvPr>
          <p:cNvPicPr>
            <a:picLocks noChangeAspect="1"/>
          </p:cNvPicPr>
          <p:nvPr/>
        </p:nvPicPr>
        <p:blipFill>
          <a:blip r:embed="rId3"/>
          <a:stretch>
            <a:fillRect/>
          </a:stretch>
        </p:blipFill>
        <p:spPr>
          <a:xfrm>
            <a:off x="6437151" y="3239393"/>
            <a:ext cx="4836991" cy="2170807"/>
          </a:xfrm>
          <a:prstGeom prst="rect">
            <a:avLst/>
          </a:prstGeom>
        </p:spPr>
      </p:pic>
      <p:sp>
        <p:nvSpPr>
          <p:cNvPr id="16" name="Text 11"/>
          <p:cNvSpPr/>
          <p:nvPr/>
        </p:nvSpPr>
        <p:spPr>
          <a:xfrm>
            <a:off x="929557" y="6447582"/>
            <a:ext cx="1431691"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15-10-2026</a:t>
            </a:r>
            <a:endParaRPr lang="en-US" sz="1200" dirty="0"/>
          </a:p>
        </p:txBody>
      </p:sp>
      <p:sp>
        <p:nvSpPr>
          <p:cNvPr id="17" name="Text 12"/>
          <p:cNvSpPr/>
          <p:nvPr/>
        </p:nvSpPr>
        <p:spPr>
          <a:xfrm>
            <a:off x="11167585" y="6447582"/>
            <a:ext cx="704138"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015" y="-164505"/>
            <a:ext cx="1215201" cy="1122363"/>
          </a:xfrm>
          <a:prstGeom prst="rect">
            <a:avLst/>
          </a:prstGeom>
        </p:spPr>
      </p:pic>
      <p:sp>
        <p:nvSpPr>
          <p:cNvPr id="3" name="Text 0"/>
          <p:cNvSpPr/>
          <p:nvPr/>
        </p:nvSpPr>
        <p:spPr>
          <a:xfrm>
            <a:off x="929557" y="684863"/>
            <a:ext cx="10366810" cy="602853"/>
          </a:xfrm>
          <a:prstGeom prst="rect">
            <a:avLst/>
          </a:prstGeom>
          <a:noFill/>
          <a:ln/>
        </p:spPr>
        <p:txBody>
          <a:bodyPr wrap="none" lIns="0" tIns="0" rIns="0" bIns="0" rtlCol="0" anchor="t"/>
          <a:lstStyle/>
          <a:p>
            <a:pPr algn="l" indent="0" marL="0">
              <a:lnSpc>
                <a:spcPct val="99000"/>
              </a:lnSpc>
              <a:buNone/>
            </a:pPr>
            <a:r>
              <a:rPr lang="en-US" sz="4000" spc="-153" kern="100" dirty="0">
                <a:solidFill>
                  <a:srgbClr val="000000"/>
                </a:solidFill>
                <a:latin typeface="Inter" pitchFamily="34" charset="0"/>
                <a:ea typeface="Inter" pitchFamily="34" charset="-122"/>
                <a:cs typeface="Inter" pitchFamily="34" charset="-120"/>
              </a:rPr>
              <a:t>CO 4 Topics</a:t>
            </a:r>
            <a:endParaRPr lang="en-US" sz="4000" dirty="0"/>
          </a:p>
        </p:txBody>
      </p:sp>
      <p:sp>
        <p:nvSpPr>
          <p:cNvPr id="4" name="Shape 1"/>
          <p:cNvSpPr/>
          <p:nvPr/>
        </p:nvSpPr>
        <p:spPr>
          <a:xfrm>
            <a:off x="685783" y="1600200"/>
            <a:ext cx="5294180" cy="4526260"/>
          </a:xfrm>
          <a:prstGeom prst="roundRect">
            <a:avLst>
              <a:gd name="adj" fmla="val 4801"/>
            </a:avLst>
          </a:prstGeom>
          <a:solidFill>
            <a:srgbClr val="F3F4F6"/>
          </a:solidFill>
          <a:ln/>
        </p:spPr>
      </p:sp>
      <p:sp>
        <p:nvSpPr>
          <p:cNvPr id="5" name="Shape 2"/>
          <p:cNvSpPr/>
          <p:nvPr/>
        </p:nvSpPr>
        <p:spPr>
          <a:xfrm>
            <a:off x="914377" y="1828800"/>
            <a:ext cx="502828" cy="502841"/>
          </a:xfrm>
          <a:prstGeom prst="ellipse">
            <a:avLst/>
          </a:prstGeom>
          <a:solidFill>
            <a:srgbClr val="A4152B"/>
          </a:solidFill>
          <a:ln/>
        </p:spPr>
      </p:sp>
      <p:sp>
        <p:nvSpPr>
          <p:cNvPr id="6" name="Text 3"/>
          <p:cNvSpPr/>
          <p:nvPr/>
        </p:nvSpPr>
        <p:spPr>
          <a:xfrm>
            <a:off x="987996"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1</a:t>
            </a:r>
            <a:endParaRPr lang="en-US" sz="2000" dirty="0"/>
          </a:p>
        </p:txBody>
      </p:sp>
      <p:sp>
        <p:nvSpPr>
          <p:cNvPr id="7" name="Text 4"/>
          <p:cNvSpPr/>
          <p:nvPr/>
        </p:nvSpPr>
        <p:spPr>
          <a:xfrm>
            <a:off x="1554421" y="1867317"/>
            <a:ext cx="419694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Classes and Objects</a:t>
            </a:r>
            <a:endParaRPr lang="en-US" sz="2200" dirty="0"/>
          </a:p>
        </p:txBody>
      </p:sp>
      <p:sp>
        <p:nvSpPr>
          <p:cNvPr id="8" name="Text 5"/>
          <p:cNvSpPr/>
          <p:nvPr/>
        </p:nvSpPr>
        <p:spPr>
          <a:xfrm>
            <a:off x="914377" y="2592685"/>
            <a:ext cx="5398952" cy="228600"/>
          </a:xfrm>
          <a:prstGeom prst="rect">
            <a:avLst/>
          </a:prstGeom>
          <a:noFill/>
          <a:ln/>
        </p:spPr>
        <p:txBody>
          <a:bodyPr wrap="none" lIns="0" tIns="0" rIns="0" bIns="0" rtlCol="0" anchor="t"/>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Class and object</a:t>
            </a:r>
            <a:endParaRPr lang="en-US" sz="1500" dirty="0"/>
          </a:p>
        </p:txBody>
      </p:sp>
      <p:sp>
        <p:nvSpPr>
          <p:cNvPr id="9" name="Shape 6"/>
          <p:cNvSpPr/>
          <p:nvPr/>
        </p:nvSpPr>
        <p:spPr>
          <a:xfrm>
            <a:off x="6208557" y="1600200"/>
            <a:ext cx="5294180" cy="4526260"/>
          </a:xfrm>
          <a:prstGeom prst="roundRect">
            <a:avLst>
              <a:gd name="adj" fmla="val 4801"/>
            </a:avLst>
          </a:prstGeom>
          <a:solidFill>
            <a:srgbClr val="F3F4F6"/>
          </a:solidFill>
          <a:ln/>
        </p:spPr>
      </p:sp>
      <p:sp>
        <p:nvSpPr>
          <p:cNvPr id="10" name="Shape 7"/>
          <p:cNvSpPr/>
          <p:nvPr/>
        </p:nvSpPr>
        <p:spPr>
          <a:xfrm>
            <a:off x="6437151" y="1828800"/>
            <a:ext cx="502828" cy="502841"/>
          </a:xfrm>
          <a:prstGeom prst="ellipse">
            <a:avLst/>
          </a:prstGeom>
          <a:solidFill>
            <a:srgbClr val="A4152B"/>
          </a:solidFill>
          <a:ln/>
        </p:spPr>
      </p:sp>
      <p:sp>
        <p:nvSpPr>
          <p:cNvPr id="11" name="Text 8"/>
          <p:cNvSpPr/>
          <p:nvPr/>
        </p:nvSpPr>
        <p:spPr>
          <a:xfrm>
            <a:off x="6510770"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2</a:t>
            </a:r>
            <a:endParaRPr lang="en-US" sz="2000" dirty="0"/>
          </a:p>
        </p:txBody>
      </p:sp>
      <p:sp>
        <p:nvSpPr>
          <p:cNvPr id="12" name="Text 9"/>
          <p:cNvSpPr/>
          <p:nvPr/>
        </p:nvSpPr>
        <p:spPr>
          <a:xfrm>
            <a:off x="7077196" y="1867317"/>
            <a:ext cx="419694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Polymorphism</a:t>
            </a:r>
            <a:endParaRPr lang="en-US" sz="2200" dirty="0"/>
          </a:p>
        </p:txBody>
      </p:sp>
      <p:sp>
        <p:nvSpPr>
          <p:cNvPr id="13" name="Text 10"/>
          <p:cNvSpPr/>
          <p:nvPr/>
        </p:nvSpPr>
        <p:spPr>
          <a:xfrm>
            <a:off x="6437151" y="2592685"/>
            <a:ext cx="5398952" cy="228600"/>
          </a:xfrm>
          <a:prstGeom prst="rect">
            <a:avLst/>
          </a:prstGeom>
          <a:noFill/>
          <a:ln/>
        </p:spPr>
        <p:txBody>
          <a:bodyPr wrap="none" lIns="0" tIns="0" rIns="0" bIns="0" rtlCol="0" anchor="t"/>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Method overriding</a:t>
            </a:r>
            <a:endParaRPr lang="en-US" sz="1500" dirty="0"/>
          </a:p>
        </p:txBody>
      </p:sp>
      <p:pic>
        <p:nvPicPr>
          <p:cNvPr id="14" name="Image 1" descr="preencoded.png">    </p:cNvPr>
          <p:cNvPicPr>
            <a:picLocks noChangeAspect="1"/>
          </p:cNvPicPr>
          <p:nvPr/>
        </p:nvPicPr>
        <p:blipFill>
          <a:blip r:embed="rId2"/>
          <a:stretch>
            <a:fillRect/>
          </a:stretch>
        </p:blipFill>
        <p:spPr>
          <a:xfrm>
            <a:off x="1165791" y="3062486"/>
            <a:ext cx="4234054" cy="2081014"/>
          </a:xfrm>
          <a:prstGeom prst="rect">
            <a:avLst/>
          </a:prstGeom>
        </p:spPr>
      </p:pic>
      <p:pic>
        <p:nvPicPr>
          <p:cNvPr id="15" name="Image 2" descr="preencoded.png">    </p:cNvPr>
          <p:cNvPicPr>
            <a:picLocks noChangeAspect="1"/>
          </p:cNvPicPr>
          <p:nvPr/>
        </p:nvPicPr>
        <p:blipFill>
          <a:blip r:embed="rId3"/>
          <a:stretch>
            <a:fillRect/>
          </a:stretch>
        </p:blipFill>
        <p:spPr>
          <a:xfrm>
            <a:off x="6940079" y="2859286"/>
            <a:ext cx="4022228" cy="2080915"/>
          </a:xfrm>
          <a:prstGeom prst="rect">
            <a:avLst/>
          </a:prstGeom>
        </p:spPr>
      </p:pic>
      <p:sp>
        <p:nvSpPr>
          <p:cNvPr id="16" name="Text 11"/>
          <p:cNvSpPr/>
          <p:nvPr/>
        </p:nvSpPr>
        <p:spPr>
          <a:xfrm>
            <a:off x="929557" y="6447582"/>
            <a:ext cx="1431691"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15-10-2026</a:t>
            </a:r>
            <a:endParaRPr lang="en-US" sz="1200" dirty="0"/>
          </a:p>
        </p:txBody>
      </p:sp>
      <p:sp>
        <p:nvSpPr>
          <p:cNvPr id="17" name="Text 12"/>
          <p:cNvSpPr/>
          <p:nvPr/>
        </p:nvSpPr>
        <p:spPr>
          <a:xfrm>
            <a:off x="11175820" y="6447582"/>
            <a:ext cx="695903"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015" y="-164505"/>
            <a:ext cx="1215201" cy="1122363"/>
          </a:xfrm>
          <a:prstGeom prst="rect">
            <a:avLst/>
          </a:prstGeom>
        </p:spPr>
      </p:pic>
      <p:sp>
        <p:nvSpPr>
          <p:cNvPr id="3" name="Text 0"/>
          <p:cNvSpPr/>
          <p:nvPr/>
        </p:nvSpPr>
        <p:spPr>
          <a:xfrm>
            <a:off x="929557" y="684863"/>
            <a:ext cx="10366810" cy="602853"/>
          </a:xfrm>
          <a:prstGeom prst="rect">
            <a:avLst/>
          </a:prstGeom>
          <a:noFill/>
          <a:ln/>
        </p:spPr>
        <p:txBody>
          <a:bodyPr wrap="none" lIns="0" tIns="0" rIns="0" bIns="0" rtlCol="0" anchor="t"/>
          <a:lstStyle/>
          <a:p>
            <a:pPr algn="l" indent="0" marL="0">
              <a:lnSpc>
                <a:spcPct val="99000"/>
              </a:lnSpc>
              <a:buNone/>
            </a:pPr>
            <a:r>
              <a:rPr lang="en-US" sz="4000" spc="-153" kern="100" dirty="0">
                <a:solidFill>
                  <a:srgbClr val="000000"/>
                </a:solidFill>
                <a:latin typeface="Inter" pitchFamily="34" charset="0"/>
                <a:ea typeface="Inter" pitchFamily="34" charset="-122"/>
                <a:cs typeface="Inter" pitchFamily="34" charset="-120"/>
              </a:rPr>
              <a:t>CO 5 Topics</a:t>
            </a:r>
            <a:endParaRPr lang="en-US" sz="4000" dirty="0"/>
          </a:p>
        </p:txBody>
      </p:sp>
      <p:sp>
        <p:nvSpPr>
          <p:cNvPr id="4" name="Shape 1"/>
          <p:cNvSpPr/>
          <p:nvPr/>
        </p:nvSpPr>
        <p:spPr>
          <a:xfrm>
            <a:off x="685783" y="1600200"/>
            <a:ext cx="10820129" cy="4526260"/>
          </a:xfrm>
          <a:prstGeom prst="roundRect">
            <a:avLst>
              <a:gd name="adj" fmla="val 4801"/>
            </a:avLst>
          </a:prstGeom>
          <a:solidFill>
            <a:srgbClr val="F3F4F6"/>
          </a:solidFill>
          <a:ln/>
        </p:spPr>
      </p:sp>
      <p:sp>
        <p:nvSpPr>
          <p:cNvPr id="5" name="Shape 2"/>
          <p:cNvSpPr/>
          <p:nvPr/>
        </p:nvSpPr>
        <p:spPr>
          <a:xfrm>
            <a:off x="914377" y="1828800"/>
            <a:ext cx="502828" cy="502841"/>
          </a:xfrm>
          <a:prstGeom prst="ellipse">
            <a:avLst/>
          </a:prstGeom>
          <a:solidFill>
            <a:srgbClr val="A4152B"/>
          </a:solidFill>
          <a:ln/>
        </p:spPr>
      </p:sp>
      <p:sp>
        <p:nvSpPr>
          <p:cNvPr id="6" name="Text 3"/>
          <p:cNvSpPr/>
          <p:nvPr/>
        </p:nvSpPr>
        <p:spPr>
          <a:xfrm>
            <a:off x="987996"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1</a:t>
            </a:r>
            <a:endParaRPr lang="en-US" sz="2000" dirty="0"/>
          </a:p>
        </p:txBody>
      </p:sp>
      <p:sp>
        <p:nvSpPr>
          <p:cNvPr id="7" name="Text 4"/>
          <p:cNvSpPr/>
          <p:nvPr/>
        </p:nvSpPr>
        <p:spPr>
          <a:xfrm>
            <a:off x="1554421" y="1867317"/>
            <a:ext cx="972279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Strings</a:t>
            </a:r>
            <a:endParaRPr lang="en-US" sz="2200" dirty="0"/>
          </a:p>
        </p:txBody>
      </p:sp>
      <p:sp>
        <p:nvSpPr>
          <p:cNvPr id="8" name="Text 5"/>
          <p:cNvSpPr/>
          <p:nvPr/>
        </p:nvSpPr>
        <p:spPr>
          <a:xfrm>
            <a:off x="914377" y="2592685"/>
            <a:ext cx="10924902" cy="228600"/>
          </a:xfrm>
          <a:prstGeom prst="rect">
            <a:avLst/>
          </a:prstGeom>
          <a:noFill/>
          <a:ln/>
        </p:spPr>
        <p:txBody>
          <a:bodyPr wrap="none" lIns="0" tIns="0" rIns="0" bIns="0" rtlCol="0" anchor="t"/>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String methods</a:t>
            </a:r>
            <a:endParaRPr lang="en-US" sz="1500" dirty="0"/>
          </a:p>
        </p:txBody>
      </p:sp>
      <p:pic>
        <p:nvPicPr>
          <p:cNvPr id="9" name="Image 1" descr="preencoded.png">    </p:cNvPr>
          <p:cNvPicPr>
            <a:picLocks noChangeAspect="1"/>
          </p:cNvPicPr>
          <p:nvPr/>
        </p:nvPicPr>
        <p:blipFill>
          <a:blip r:embed="rId2"/>
          <a:stretch>
            <a:fillRect/>
          </a:stretch>
        </p:blipFill>
        <p:spPr>
          <a:xfrm>
            <a:off x="2688364" y="3164979"/>
            <a:ext cx="6551845" cy="2117229"/>
          </a:xfrm>
          <a:prstGeom prst="rect">
            <a:avLst/>
          </a:prstGeom>
        </p:spPr>
      </p:pic>
      <p:sp>
        <p:nvSpPr>
          <p:cNvPr id="10" name="Text 6"/>
          <p:cNvSpPr/>
          <p:nvPr/>
        </p:nvSpPr>
        <p:spPr>
          <a:xfrm>
            <a:off x="929557" y="6447582"/>
            <a:ext cx="1431691"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15-10-2026</a:t>
            </a:r>
            <a:endParaRPr lang="en-US" sz="1200" dirty="0"/>
          </a:p>
        </p:txBody>
      </p:sp>
      <p:sp>
        <p:nvSpPr>
          <p:cNvPr id="11" name="Text 7"/>
          <p:cNvSpPr/>
          <p:nvPr/>
        </p:nvSpPr>
        <p:spPr>
          <a:xfrm>
            <a:off x="11167783" y="6447582"/>
            <a:ext cx="703939"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015" y="-164505"/>
            <a:ext cx="1215201" cy="1122363"/>
          </a:xfrm>
          <a:prstGeom prst="rect">
            <a:avLst/>
          </a:prstGeom>
        </p:spPr>
      </p:pic>
      <p:sp>
        <p:nvSpPr>
          <p:cNvPr id="3" name="Text 0"/>
          <p:cNvSpPr/>
          <p:nvPr/>
        </p:nvSpPr>
        <p:spPr>
          <a:xfrm>
            <a:off x="929557" y="684863"/>
            <a:ext cx="10366810" cy="602853"/>
          </a:xfrm>
          <a:prstGeom prst="rect">
            <a:avLst/>
          </a:prstGeom>
          <a:noFill/>
          <a:ln/>
        </p:spPr>
        <p:txBody>
          <a:bodyPr wrap="none" lIns="0" tIns="0" rIns="0" bIns="0" rtlCol="0" anchor="t"/>
          <a:lstStyle/>
          <a:p>
            <a:pPr algn="l" indent="0" marL="0">
              <a:lnSpc>
                <a:spcPct val="99000"/>
              </a:lnSpc>
              <a:buNone/>
            </a:pPr>
            <a:r>
              <a:rPr lang="en-US" sz="4000" spc="-153" kern="100" dirty="0">
                <a:solidFill>
                  <a:srgbClr val="000000"/>
                </a:solidFill>
                <a:latin typeface="Inter" pitchFamily="34" charset="0"/>
                <a:ea typeface="Inter" pitchFamily="34" charset="-122"/>
                <a:cs typeface="Inter" pitchFamily="34" charset="-120"/>
              </a:rPr>
              <a:t>CO 6 Topics</a:t>
            </a:r>
            <a:endParaRPr lang="en-US" sz="4000" dirty="0"/>
          </a:p>
        </p:txBody>
      </p:sp>
      <p:sp>
        <p:nvSpPr>
          <p:cNvPr id="4" name="Shape 1"/>
          <p:cNvSpPr/>
          <p:nvPr/>
        </p:nvSpPr>
        <p:spPr>
          <a:xfrm>
            <a:off x="685783" y="1600200"/>
            <a:ext cx="10820129" cy="4526260"/>
          </a:xfrm>
          <a:prstGeom prst="roundRect">
            <a:avLst>
              <a:gd name="adj" fmla="val 4801"/>
            </a:avLst>
          </a:prstGeom>
          <a:solidFill>
            <a:srgbClr val="F3F4F6"/>
          </a:solidFill>
          <a:ln/>
        </p:spPr>
      </p:sp>
      <p:sp>
        <p:nvSpPr>
          <p:cNvPr id="5" name="Shape 2"/>
          <p:cNvSpPr/>
          <p:nvPr/>
        </p:nvSpPr>
        <p:spPr>
          <a:xfrm>
            <a:off x="914377" y="1828800"/>
            <a:ext cx="502828" cy="502841"/>
          </a:xfrm>
          <a:prstGeom prst="ellipse">
            <a:avLst/>
          </a:prstGeom>
          <a:solidFill>
            <a:srgbClr val="A4152B"/>
          </a:solidFill>
          <a:ln/>
        </p:spPr>
      </p:sp>
      <p:sp>
        <p:nvSpPr>
          <p:cNvPr id="6" name="Text 3"/>
          <p:cNvSpPr/>
          <p:nvPr/>
        </p:nvSpPr>
        <p:spPr>
          <a:xfrm>
            <a:off x="987996"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1</a:t>
            </a:r>
            <a:endParaRPr lang="en-US" sz="2000" dirty="0"/>
          </a:p>
        </p:txBody>
      </p:sp>
      <p:sp>
        <p:nvSpPr>
          <p:cNvPr id="7" name="Text 4"/>
          <p:cNvSpPr/>
          <p:nvPr/>
        </p:nvSpPr>
        <p:spPr>
          <a:xfrm>
            <a:off x="1554421" y="1867317"/>
            <a:ext cx="972279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Exception Handling</a:t>
            </a:r>
            <a:endParaRPr lang="en-US" sz="2200" dirty="0"/>
          </a:p>
        </p:txBody>
      </p:sp>
      <p:sp>
        <p:nvSpPr>
          <p:cNvPr id="8" name="Text 5"/>
          <p:cNvSpPr/>
          <p:nvPr/>
        </p:nvSpPr>
        <p:spPr>
          <a:xfrm>
            <a:off x="914377" y="2592685"/>
            <a:ext cx="10924902" cy="228600"/>
          </a:xfrm>
          <a:prstGeom prst="rect">
            <a:avLst/>
          </a:prstGeom>
          <a:noFill/>
          <a:ln/>
        </p:spPr>
        <p:txBody>
          <a:bodyPr wrap="none" lIns="0" tIns="0" rIns="0" bIns="0" rtlCol="0" anchor="t"/>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try-catch</a:t>
            </a:r>
            <a:endParaRPr lang="en-US" sz="1500" dirty="0"/>
          </a:p>
        </p:txBody>
      </p:sp>
      <p:pic>
        <p:nvPicPr>
          <p:cNvPr id="9" name="Image 1" descr="preencoded.png">    </p:cNvPr>
          <p:cNvPicPr>
            <a:picLocks noChangeAspect="1"/>
          </p:cNvPicPr>
          <p:nvPr/>
        </p:nvPicPr>
        <p:blipFill>
          <a:blip r:embed="rId2"/>
          <a:stretch>
            <a:fillRect/>
          </a:stretch>
        </p:blipFill>
        <p:spPr>
          <a:xfrm>
            <a:off x="3263818" y="3047206"/>
            <a:ext cx="6322457" cy="2032695"/>
          </a:xfrm>
          <a:prstGeom prst="rect">
            <a:avLst/>
          </a:prstGeom>
        </p:spPr>
      </p:pic>
      <p:sp>
        <p:nvSpPr>
          <p:cNvPr id="10" name="Text 6"/>
          <p:cNvSpPr/>
          <p:nvPr/>
        </p:nvSpPr>
        <p:spPr>
          <a:xfrm>
            <a:off x="929557" y="6447582"/>
            <a:ext cx="1431691"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15-10-2026</a:t>
            </a:r>
            <a:endParaRPr lang="en-US" sz="1200" dirty="0"/>
          </a:p>
        </p:txBody>
      </p:sp>
      <p:sp>
        <p:nvSpPr>
          <p:cNvPr id="11" name="Text 7"/>
          <p:cNvSpPr/>
          <p:nvPr/>
        </p:nvSpPr>
        <p:spPr>
          <a:xfrm>
            <a:off x="11167585" y="6447582"/>
            <a:ext cx="704138"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015" y="-164505"/>
            <a:ext cx="1215201" cy="1122363"/>
          </a:xfrm>
          <a:prstGeom prst="rect">
            <a:avLst/>
          </a:prstGeom>
        </p:spPr>
      </p:pic>
      <p:sp>
        <p:nvSpPr>
          <p:cNvPr id="3" name="Text 0"/>
          <p:cNvSpPr/>
          <p:nvPr/>
        </p:nvSpPr>
        <p:spPr>
          <a:xfrm>
            <a:off x="929557" y="684863"/>
            <a:ext cx="10366810" cy="602853"/>
          </a:xfrm>
          <a:prstGeom prst="rect">
            <a:avLst/>
          </a:prstGeom>
          <a:noFill/>
          <a:ln/>
        </p:spPr>
        <p:txBody>
          <a:bodyPr wrap="none" lIns="0" tIns="0" rIns="0" bIns="0" rtlCol="0" anchor="t"/>
          <a:lstStyle/>
          <a:p>
            <a:pPr algn="l" indent="0" marL="0">
              <a:lnSpc>
                <a:spcPct val="99000"/>
              </a:lnSpc>
              <a:buNone/>
            </a:pPr>
            <a:r>
              <a:rPr lang="en-US" sz="4000" spc="-153" kern="100" dirty="0">
                <a:solidFill>
                  <a:srgbClr val="000000"/>
                </a:solidFill>
                <a:latin typeface="Inter" pitchFamily="34" charset="0"/>
                <a:ea typeface="Inter" pitchFamily="34" charset="-122"/>
                <a:cs typeface="Inter" pitchFamily="34" charset="-120"/>
              </a:rPr>
              <a:t>Conclusion</a:t>
            </a:r>
            <a:endParaRPr lang="en-US" sz="4000" dirty="0"/>
          </a:p>
        </p:txBody>
      </p:sp>
      <p:sp>
        <p:nvSpPr>
          <p:cNvPr id="4" name="Shape 1"/>
          <p:cNvSpPr/>
          <p:nvPr/>
        </p:nvSpPr>
        <p:spPr>
          <a:xfrm>
            <a:off x="685783" y="1600200"/>
            <a:ext cx="3453222" cy="4526260"/>
          </a:xfrm>
          <a:prstGeom prst="roundRect">
            <a:avLst>
              <a:gd name="adj" fmla="val 4802"/>
            </a:avLst>
          </a:prstGeom>
          <a:solidFill>
            <a:srgbClr val="F3F4F6"/>
          </a:solidFill>
          <a:ln/>
        </p:spPr>
      </p:sp>
      <p:sp>
        <p:nvSpPr>
          <p:cNvPr id="5" name="Shape 2"/>
          <p:cNvSpPr/>
          <p:nvPr/>
        </p:nvSpPr>
        <p:spPr>
          <a:xfrm>
            <a:off x="914377" y="1828800"/>
            <a:ext cx="502828" cy="502841"/>
          </a:xfrm>
          <a:prstGeom prst="ellipse">
            <a:avLst/>
          </a:prstGeom>
          <a:solidFill>
            <a:srgbClr val="A4152B"/>
          </a:solidFill>
          <a:ln/>
        </p:spPr>
      </p:sp>
      <p:sp>
        <p:nvSpPr>
          <p:cNvPr id="6" name="Text 3"/>
          <p:cNvSpPr/>
          <p:nvPr/>
        </p:nvSpPr>
        <p:spPr>
          <a:xfrm>
            <a:off x="987996"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1</a:t>
            </a:r>
            <a:endParaRPr lang="en-US" sz="2000" dirty="0"/>
          </a:p>
        </p:txBody>
      </p:sp>
      <p:sp>
        <p:nvSpPr>
          <p:cNvPr id="7" name="Text 4"/>
          <p:cNvSpPr/>
          <p:nvPr/>
        </p:nvSpPr>
        <p:spPr>
          <a:xfrm>
            <a:off x="1554421" y="1867317"/>
            <a:ext cx="244746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What We Built</a:t>
            </a:r>
            <a:endParaRPr lang="en-US" sz="2200" dirty="0"/>
          </a:p>
        </p:txBody>
      </p:sp>
      <p:sp>
        <p:nvSpPr>
          <p:cNvPr id="8" name="Text 5"/>
          <p:cNvSpPr/>
          <p:nvPr/>
        </p:nvSpPr>
        <p:spPr>
          <a:xfrm>
            <a:off x="914377" y="2592685"/>
            <a:ext cx="2948410" cy="1371600"/>
          </a:xfrm>
          <a:prstGeom prst="rect">
            <a:avLst/>
          </a:prstGeom>
          <a:noFill/>
          <a:ln/>
        </p:spPr>
        <p:txBody>
          <a:bodyPr wrap="square" lIns="0" tIns="0" rIns="0" bIns="0" rtlCol="0" anchor="t">
            <a:normAutofit/>
          </a:bodyPr>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A simple Java Hotel Booking and Occupancy Manager</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Stores room number and price</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Calculates room charges for normal and deluxe rooms</a:t>
            </a:r>
            <a:endParaRPr lang="en-US" sz="1500" dirty="0"/>
          </a:p>
        </p:txBody>
      </p:sp>
      <p:sp>
        <p:nvSpPr>
          <p:cNvPr id="9" name="Shape 6"/>
          <p:cNvSpPr/>
          <p:nvPr/>
        </p:nvSpPr>
        <p:spPr>
          <a:xfrm>
            <a:off x="4367599" y="1600200"/>
            <a:ext cx="3453222" cy="4526260"/>
          </a:xfrm>
          <a:prstGeom prst="roundRect">
            <a:avLst>
              <a:gd name="adj" fmla="val 4802"/>
            </a:avLst>
          </a:prstGeom>
          <a:solidFill>
            <a:srgbClr val="F3F4F6"/>
          </a:solidFill>
          <a:ln/>
        </p:spPr>
      </p:sp>
      <p:sp>
        <p:nvSpPr>
          <p:cNvPr id="10" name="Shape 7"/>
          <p:cNvSpPr/>
          <p:nvPr/>
        </p:nvSpPr>
        <p:spPr>
          <a:xfrm>
            <a:off x="4596194" y="1828800"/>
            <a:ext cx="502828" cy="502841"/>
          </a:xfrm>
          <a:prstGeom prst="ellipse">
            <a:avLst/>
          </a:prstGeom>
          <a:solidFill>
            <a:srgbClr val="A4152B"/>
          </a:solidFill>
          <a:ln/>
        </p:spPr>
      </p:sp>
      <p:sp>
        <p:nvSpPr>
          <p:cNvPr id="11" name="Text 8"/>
          <p:cNvSpPr/>
          <p:nvPr/>
        </p:nvSpPr>
        <p:spPr>
          <a:xfrm>
            <a:off x="4669812"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2</a:t>
            </a:r>
            <a:endParaRPr lang="en-US" sz="2000" dirty="0"/>
          </a:p>
        </p:txBody>
      </p:sp>
      <p:sp>
        <p:nvSpPr>
          <p:cNvPr id="12" name="Text 9"/>
          <p:cNvSpPr/>
          <p:nvPr/>
        </p:nvSpPr>
        <p:spPr>
          <a:xfrm>
            <a:off x="5236238" y="1867317"/>
            <a:ext cx="244746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Concepts Used</a:t>
            </a:r>
            <a:endParaRPr lang="en-US" sz="2200" dirty="0"/>
          </a:p>
        </p:txBody>
      </p:sp>
      <p:sp>
        <p:nvSpPr>
          <p:cNvPr id="13" name="Text 10"/>
          <p:cNvSpPr/>
          <p:nvPr/>
        </p:nvSpPr>
        <p:spPr>
          <a:xfrm>
            <a:off x="4596194" y="2592685"/>
            <a:ext cx="2948410" cy="2628900"/>
          </a:xfrm>
          <a:prstGeom prst="rect">
            <a:avLst/>
          </a:prstGeom>
          <a:noFill/>
          <a:ln/>
        </p:spPr>
        <p:txBody>
          <a:bodyPr wrap="square" lIns="0" tIns="0" rIns="0" bIns="0" rtlCol="0" anchor="t">
            <a:normAutofit/>
          </a:bodyPr>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CO1: datatypes, variables, operators</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CO2: if-else ladder, for loop, break</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CO3: return value, 1D array</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CO4: class and object, method overriding</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CO5: string methods</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CO6: exception handling</a:t>
            </a:r>
            <a:endParaRPr lang="en-US" sz="1500" dirty="0"/>
          </a:p>
        </p:txBody>
      </p:sp>
      <p:sp>
        <p:nvSpPr>
          <p:cNvPr id="14" name="Shape 11"/>
          <p:cNvSpPr/>
          <p:nvPr/>
        </p:nvSpPr>
        <p:spPr>
          <a:xfrm>
            <a:off x="8049515" y="1600200"/>
            <a:ext cx="3453222" cy="4526260"/>
          </a:xfrm>
          <a:prstGeom prst="roundRect">
            <a:avLst>
              <a:gd name="adj" fmla="val 4802"/>
            </a:avLst>
          </a:prstGeom>
          <a:solidFill>
            <a:srgbClr val="F3F4F6"/>
          </a:solidFill>
          <a:ln/>
        </p:spPr>
      </p:sp>
      <p:sp>
        <p:nvSpPr>
          <p:cNvPr id="15" name="Shape 12"/>
          <p:cNvSpPr/>
          <p:nvPr/>
        </p:nvSpPr>
        <p:spPr>
          <a:xfrm>
            <a:off x="8278109" y="1828800"/>
            <a:ext cx="502828" cy="502841"/>
          </a:xfrm>
          <a:prstGeom prst="ellipse">
            <a:avLst/>
          </a:prstGeom>
          <a:solidFill>
            <a:srgbClr val="A4152B"/>
          </a:solidFill>
          <a:ln/>
        </p:spPr>
      </p:sp>
      <p:sp>
        <p:nvSpPr>
          <p:cNvPr id="16" name="Text 13"/>
          <p:cNvSpPr/>
          <p:nvPr/>
        </p:nvSpPr>
        <p:spPr>
          <a:xfrm>
            <a:off x="8351728" y="1927820"/>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3</a:t>
            </a:r>
            <a:endParaRPr lang="en-US" sz="2000" dirty="0"/>
          </a:p>
        </p:txBody>
      </p:sp>
      <p:sp>
        <p:nvSpPr>
          <p:cNvPr id="17" name="Text 14"/>
          <p:cNvSpPr/>
          <p:nvPr/>
        </p:nvSpPr>
        <p:spPr>
          <a:xfrm>
            <a:off x="8918153" y="1867317"/>
            <a:ext cx="2447467"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The Outcome</a:t>
            </a:r>
            <a:endParaRPr lang="en-US" sz="2200" dirty="0"/>
          </a:p>
        </p:txBody>
      </p:sp>
      <p:sp>
        <p:nvSpPr>
          <p:cNvPr id="18" name="Text 15"/>
          <p:cNvSpPr/>
          <p:nvPr/>
        </p:nvSpPr>
        <p:spPr>
          <a:xfrm>
            <a:off x="8278109" y="2592685"/>
            <a:ext cx="2948410" cy="2057400"/>
          </a:xfrm>
          <a:prstGeom prst="rect">
            <a:avLst/>
          </a:prstGeom>
          <a:noFill/>
          <a:ln/>
        </p:spPr>
        <p:txBody>
          <a:bodyPr wrap="square" lIns="0" tIns="0" rIns="0" bIns="0" rtlCol="0" anchor="t">
            <a:normAutofit/>
          </a:bodyPr>
          <a:lstStyle/>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A simple, efficient and user-friendly way to manage hotel rooms and bookings</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Less paperwork and fewer human errors</a:t>
            </a:r>
            <a:endParaRPr lang="en-US" sz="1500" dirty="0"/>
          </a:p>
          <a:p>
            <a:pPr algn="l" marL="228600" indent="-228600">
              <a:lnSpc>
                <a:spcPct val="100000"/>
              </a:lnSpc>
              <a:buSzPct val="100000"/>
              <a:buChar char="•"/>
            </a:pPr>
            <a:r>
              <a:rPr lang="en-US" sz="1500" spc="-74" kern="100" dirty="0">
                <a:solidFill>
                  <a:srgbClr val="1F2933"/>
                </a:solidFill>
                <a:latin typeface="Inter" pitchFamily="34" charset="0"/>
                <a:ea typeface="Inter" pitchFamily="34" charset="-122"/>
                <a:cs typeface="Inter" pitchFamily="34" charset="-120"/>
              </a:rPr>
              <a:t>Future scope: online booking, payment integration, billing, email notifications</a:t>
            </a:r>
            <a:endParaRPr lang="en-US" sz="1500" dirty="0"/>
          </a:p>
        </p:txBody>
      </p:sp>
      <p:sp>
        <p:nvSpPr>
          <p:cNvPr id="19" name="Text 16"/>
          <p:cNvSpPr/>
          <p:nvPr/>
        </p:nvSpPr>
        <p:spPr>
          <a:xfrm>
            <a:off x="929557" y="6447582"/>
            <a:ext cx="1431691"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15-10-2026</a:t>
            </a:r>
            <a:endParaRPr lang="en-US" sz="1200" dirty="0"/>
          </a:p>
        </p:txBody>
      </p:sp>
      <p:sp>
        <p:nvSpPr>
          <p:cNvPr id="20" name="Text 17"/>
          <p:cNvSpPr/>
          <p:nvPr/>
        </p:nvSpPr>
        <p:spPr>
          <a:xfrm>
            <a:off x="11103987" y="6447582"/>
            <a:ext cx="767735"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015" y="-164505"/>
            <a:ext cx="1215201" cy="1122363"/>
          </a:xfrm>
          <a:prstGeom prst="rect">
            <a:avLst/>
          </a:prstGeom>
        </p:spPr>
      </p:pic>
      <p:sp>
        <p:nvSpPr>
          <p:cNvPr id="3" name="Text 0"/>
          <p:cNvSpPr/>
          <p:nvPr/>
        </p:nvSpPr>
        <p:spPr>
          <a:xfrm>
            <a:off x="929557" y="108005"/>
            <a:ext cx="10366810" cy="602853"/>
          </a:xfrm>
          <a:prstGeom prst="rect">
            <a:avLst/>
          </a:prstGeom>
          <a:noFill/>
          <a:ln/>
        </p:spPr>
        <p:txBody>
          <a:bodyPr wrap="none" lIns="0" tIns="0" rIns="0" bIns="0" rtlCol="0" anchor="t"/>
          <a:lstStyle/>
          <a:p>
            <a:pPr algn="l" indent="0" marL="0">
              <a:lnSpc>
                <a:spcPct val="99000"/>
              </a:lnSpc>
              <a:buNone/>
            </a:pPr>
            <a:r>
              <a:rPr lang="en-US" sz="4000" spc="-153" kern="100" dirty="0">
                <a:solidFill>
                  <a:srgbClr val="000000"/>
                </a:solidFill>
                <a:latin typeface="Inter" pitchFamily="34" charset="0"/>
                <a:ea typeface="Inter" pitchFamily="34" charset="-122"/>
                <a:cs typeface="Inter" pitchFamily="34" charset="-120"/>
              </a:rPr>
              <a:t>Screen Shots</a:t>
            </a:r>
            <a:endParaRPr lang="en-US" sz="4000" dirty="0"/>
          </a:p>
        </p:txBody>
      </p:sp>
      <p:sp>
        <p:nvSpPr>
          <p:cNvPr id="4" name="Shape 1"/>
          <p:cNvSpPr/>
          <p:nvPr/>
        </p:nvSpPr>
        <p:spPr>
          <a:xfrm>
            <a:off x="3809905" y="1328142"/>
            <a:ext cx="7696007" cy="2286000"/>
          </a:xfrm>
          <a:prstGeom prst="roundRect">
            <a:avLst>
              <a:gd name="adj" fmla="val 9506"/>
            </a:avLst>
          </a:prstGeom>
          <a:solidFill>
            <a:srgbClr val="F3F4F6"/>
          </a:solidFill>
          <a:ln/>
        </p:spPr>
      </p:sp>
      <p:sp>
        <p:nvSpPr>
          <p:cNvPr id="5" name="Shape 2"/>
          <p:cNvSpPr/>
          <p:nvPr/>
        </p:nvSpPr>
        <p:spPr>
          <a:xfrm>
            <a:off x="4038499" y="1429742"/>
            <a:ext cx="502828" cy="502841"/>
          </a:xfrm>
          <a:prstGeom prst="ellipse">
            <a:avLst/>
          </a:prstGeom>
          <a:solidFill>
            <a:srgbClr val="A4152B"/>
          </a:solidFill>
          <a:ln/>
        </p:spPr>
      </p:sp>
      <p:sp>
        <p:nvSpPr>
          <p:cNvPr id="6" name="Text 3"/>
          <p:cNvSpPr/>
          <p:nvPr/>
        </p:nvSpPr>
        <p:spPr>
          <a:xfrm>
            <a:off x="4112117" y="1528763"/>
            <a:ext cx="355591" cy="304800"/>
          </a:xfrm>
          <a:prstGeom prst="rect">
            <a:avLst/>
          </a:prstGeom>
          <a:noFill/>
          <a:ln/>
        </p:spPr>
        <p:txBody>
          <a:bodyPr wrap="none" lIns="0" tIns="0" rIns="0" bIns="0" rtlCol="0" anchor="t"/>
          <a:lstStyle/>
          <a:p>
            <a:pPr algn="ctr" indent="0" marL="0">
              <a:lnSpc>
                <a:spcPct val="100000"/>
              </a:lnSpc>
              <a:buNone/>
            </a:pPr>
            <a:r>
              <a:rPr lang="en-US" sz="2000" b="1" spc="-81" kern="100" dirty="0">
                <a:solidFill>
                  <a:srgbClr val="FFFFFF"/>
                </a:solidFill>
                <a:latin typeface="Inter Bold" pitchFamily="34" charset="0"/>
                <a:ea typeface="Inter Bold" pitchFamily="34" charset="-122"/>
                <a:cs typeface="Inter Bold" pitchFamily="34" charset="-120"/>
              </a:rPr>
              <a:t>i</a:t>
            </a:r>
            <a:endParaRPr lang="en-US" sz="2000" dirty="0"/>
          </a:p>
        </p:txBody>
      </p:sp>
      <p:sp>
        <p:nvSpPr>
          <p:cNvPr id="7" name="Text 4"/>
          <p:cNvSpPr/>
          <p:nvPr/>
        </p:nvSpPr>
        <p:spPr>
          <a:xfrm>
            <a:off x="4673483" y="1468259"/>
            <a:ext cx="6603835" cy="335260"/>
          </a:xfrm>
          <a:prstGeom prst="rect">
            <a:avLst/>
          </a:prstGeom>
          <a:noFill/>
          <a:ln/>
        </p:spPr>
        <p:txBody>
          <a:bodyPr wrap="none" lIns="0" tIns="0" rIns="0" bIns="0" rtlCol="0" anchor="t"/>
          <a:lstStyle/>
          <a:p>
            <a:pPr algn="l" indent="0" marL="0">
              <a:lnSpc>
                <a:spcPct val="100000"/>
              </a:lnSpc>
              <a:buNone/>
            </a:pPr>
            <a:r>
              <a:rPr lang="en-US" sz="2200" b="1" spc="-89" kern="100" dirty="0">
                <a:solidFill>
                  <a:srgbClr val="1F2933"/>
                </a:solidFill>
                <a:latin typeface="Inter Bold" pitchFamily="34" charset="0"/>
                <a:ea typeface="Inter Bold" pitchFamily="34" charset="-122"/>
                <a:cs typeface="Inter Bold" pitchFamily="34" charset="-120"/>
              </a:rPr>
              <a:t>What the Output Shows</a:t>
            </a:r>
            <a:endParaRPr lang="en-US" sz="2200" dirty="0"/>
          </a:p>
        </p:txBody>
      </p:sp>
      <p:sp>
        <p:nvSpPr>
          <p:cNvPr id="8" name="Text 5"/>
          <p:cNvSpPr/>
          <p:nvPr/>
        </p:nvSpPr>
        <p:spPr>
          <a:xfrm>
            <a:off x="4038499" y="1905000"/>
            <a:ext cx="7200720" cy="1668661"/>
          </a:xfrm>
          <a:prstGeom prst="rect">
            <a:avLst/>
          </a:prstGeom>
          <a:noFill/>
          <a:ln/>
        </p:spPr>
        <p:txBody>
          <a:bodyPr wrap="square" lIns="0" tIns="0" rIns="0" bIns="0" rtlCol="0" anchor="t">
            <a:normAutofit/>
          </a:bodyPr>
          <a:lstStyle/>
          <a:p>
            <a:pPr algn="l" marL="182880" indent="-182880">
              <a:lnSpc>
                <a:spcPct val="100000"/>
              </a:lnSpc>
              <a:buSzPct val="100000"/>
              <a:buChar char="•"/>
            </a:pPr>
            <a:r>
              <a:rPr lang="en-US" sz="1200" spc="-74" kern="100" dirty="0">
                <a:solidFill>
                  <a:srgbClr val="1F2933"/>
                </a:solidFill>
                <a:latin typeface="Inter" pitchFamily="34" charset="0"/>
                <a:ea typeface="Inter" pitchFamily="34" charset="-122"/>
                <a:cs typeface="Inter" pitchFamily="34" charset="-120"/>
              </a:rPr>
              <a:t>Discount: ladder picks 5% for 3 nights (CO1, CO2)</a:t>
            </a:r>
            <a:endParaRPr lang="en-US" sz="1200" dirty="0"/>
          </a:p>
          <a:p>
            <a:pPr algn="l" marL="182880" indent="-182880">
              <a:lnSpc>
                <a:spcPct val="100000"/>
              </a:lnSpc>
              <a:buSzPct val="100000"/>
              <a:buChar char="•"/>
            </a:pPr>
            <a:r>
              <a:rPr lang="en-US" sz="1200" spc="-74" kern="100" dirty="0">
                <a:solidFill>
                  <a:srgbClr val="1F2933"/>
                </a:solidFill>
                <a:latin typeface="Inter" pitchFamily="34" charset="0"/>
                <a:ea typeface="Inter" pitchFamily="34" charset="-122"/>
                <a:cs typeface="Inter" pitchFamily="34" charset="-120"/>
              </a:rPr>
              <a:t>Checking room: for loop stops at 104 with break (CO2)</a:t>
            </a:r>
            <a:endParaRPr lang="en-US" sz="1200" dirty="0"/>
          </a:p>
          <a:p>
            <a:pPr algn="l" marL="182880" indent="-182880">
              <a:lnSpc>
                <a:spcPct val="100000"/>
              </a:lnSpc>
              <a:buSzPct val="100000"/>
              <a:buChar char="•"/>
            </a:pPr>
            <a:r>
              <a:rPr lang="en-US" sz="1200" spc="-74" kern="100" dirty="0">
                <a:solidFill>
                  <a:srgbClr val="1F2933"/>
                </a:solidFill>
                <a:latin typeface="Inter" pitchFamily="34" charset="0"/>
                <a:ea typeface="Inter" pitchFamily="34" charset="-122"/>
                <a:cs typeface="Inter" pitchFamily="34" charset="-120"/>
              </a:rPr>
              <a:t>Cheapest room: first value of the 1D array (CO3)</a:t>
            </a:r>
            <a:endParaRPr lang="en-US" sz="1200" dirty="0"/>
          </a:p>
          <a:p>
            <a:pPr algn="l" marL="182880" indent="-182880">
              <a:lnSpc>
                <a:spcPct val="100000"/>
              </a:lnSpc>
              <a:buSzPct val="100000"/>
              <a:buChar char="•"/>
            </a:pPr>
            <a:r>
              <a:rPr lang="en-US" sz="1200" spc="-74" kern="100" dirty="0">
                <a:solidFill>
                  <a:srgbClr val="1F2933"/>
                </a:solidFill>
                <a:latin typeface="Inter" pitchFamily="34" charset="0"/>
                <a:ea typeface="Inter" pitchFamily="34" charset="-122"/>
                <a:cs typeface="Inter" pitchFamily="34" charset="-120"/>
              </a:rPr>
              <a:t>Normal and Deluxe room: objects, return value, overriding (CO3, CO4)</a:t>
            </a:r>
            <a:endParaRPr lang="en-US" sz="1200" dirty="0"/>
          </a:p>
          <a:p>
            <a:pPr algn="l" marL="182880" indent="-182880">
              <a:lnSpc>
                <a:spcPct val="100000"/>
              </a:lnSpc>
              <a:buSzPct val="100000"/>
              <a:buChar char="•"/>
            </a:pPr>
            <a:r>
              <a:rPr lang="en-US" sz="1200" spc="-74" kern="100" dirty="0">
                <a:solidFill>
                  <a:srgbClr val="1F2933"/>
                </a:solidFill>
                <a:latin typeface="Inter" pitchFamily="34" charset="0"/>
                <a:ea typeface="Inter" pitchFamily="34" charset="-122"/>
                <a:cs typeface="Inter" pitchFamily="34" charset="-120"/>
              </a:rPr>
              <a:t>RAVI KUMAR: string methods (CO5)</a:t>
            </a:r>
            <a:endParaRPr lang="en-US" sz="1200" dirty="0"/>
          </a:p>
          <a:p>
            <a:pPr algn="l" marL="182880" indent="-182880">
              <a:lnSpc>
                <a:spcPct val="100000"/>
              </a:lnSpc>
              <a:buSzPct val="100000"/>
              <a:buChar char="•"/>
            </a:pPr>
            <a:r>
              <a:rPr lang="en-US" sz="1200" spc="-74" kern="100" dirty="0">
                <a:solidFill>
                  <a:srgbClr val="1F2933"/>
                </a:solidFill>
                <a:latin typeface="Inter" pitchFamily="34" charset="0"/>
                <a:ea typeface="Inter" pitchFamily="34" charset="-122"/>
                <a:cs typeface="Inter" pitchFamily="34" charset="-120"/>
              </a:rPr>
              <a:t>Room not found: try-catch handles the wrong index (CO6)</a:t>
            </a:r>
            <a:endParaRPr lang="en-US" sz="1200" dirty="0"/>
          </a:p>
        </p:txBody>
      </p:sp>
      <p:pic>
        <p:nvPicPr>
          <p:cNvPr id="9" name="Image 1" descr="preencoded.png">    </p:cNvPr>
          <p:cNvPicPr>
            <a:picLocks noChangeAspect="1"/>
          </p:cNvPicPr>
          <p:nvPr/>
        </p:nvPicPr>
        <p:blipFill>
          <a:blip r:embed="rId2"/>
          <a:stretch>
            <a:fillRect/>
          </a:stretch>
        </p:blipFill>
        <p:spPr>
          <a:xfrm>
            <a:off x="685783" y="1905000"/>
            <a:ext cx="2920927" cy="2286000"/>
          </a:xfrm>
          <a:prstGeom prst="rect">
            <a:avLst/>
          </a:prstGeom>
        </p:spPr>
      </p:pic>
      <p:pic>
        <p:nvPicPr>
          <p:cNvPr id="10" name="Image 2" descr="preencoded.png">    </p:cNvPr>
          <p:cNvPicPr>
            <a:picLocks noChangeAspect="1"/>
          </p:cNvPicPr>
          <p:nvPr/>
        </p:nvPicPr>
        <p:blipFill>
          <a:blip r:embed="rId3"/>
          <a:stretch>
            <a:fillRect/>
          </a:stretch>
        </p:blipFill>
        <p:spPr>
          <a:xfrm>
            <a:off x="685783" y="4343400"/>
            <a:ext cx="2072529" cy="1066800"/>
          </a:xfrm>
          <a:prstGeom prst="rect">
            <a:avLst/>
          </a:prstGeom>
        </p:spPr>
      </p:pic>
      <p:pic>
        <p:nvPicPr>
          <p:cNvPr id="11" name="Image 3" descr="preencoded.png">    </p:cNvPr>
          <p:cNvPicPr>
            <a:picLocks noChangeAspect="1"/>
          </p:cNvPicPr>
          <p:nvPr/>
        </p:nvPicPr>
        <p:blipFill>
          <a:blip r:embed="rId4"/>
          <a:stretch>
            <a:fillRect/>
          </a:stretch>
        </p:blipFill>
        <p:spPr>
          <a:xfrm>
            <a:off x="2872609" y="4343400"/>
            <a:ext cx="2072529" cy="1066800"/>
          </a:xfrm>
          <a:prstGeom prst="rect">
            <a:avLst/>
          </a:prstGeom>
        </p:spPr>
      </p:pic>
      <p:pic>
        <p:nvPicPr>
          <p:cNvPr id="12" name="Image 4" descr="preencoded.png">    </p:cNvPr>
          <p:cNvPicPr>
            <a:picLocks noChangeAspect="1"/>
          </p:cNvPicPr>
          <p:nvPr/>
        </p:nvPicPr>
        <p:blipFill>
          <a:blip r:embed="rId5"/>
          <a:stretch>
            <a:fillRect/>
          </a:stretch>
        </p:blipFill>
        <p:spPr>
          <a:xfrm>
            <a:off x="5059534" y="3938389"/>
            <a:ext cx="2072529" cy="1695252"/>
          </a:xfrm>
          <a:prstGeom prst="rect">
            <a:avLst/>
          </a:prstGeom>
        </p:spPr>
      </p:pic>
      <p:pic>
        <p:nvPicPr>
          <p:cNvPr id="13" name="Image 5" descr="preencoded.png">    </p:cNvPr>
          <p:cNvPicPr>
            <a:picLocks noChangeAspect="1"/>
          </p:cNvPicPr>
          <p:nvPr/>
        </p:nvPicPr>
        <p:blipFill>
          <a:blip r:embed="rId6"/>
          <a:stretch>
            <a:fillRect/>
          </a:stretch>
        </p:blipFill>
        <p:spPr>
          <a:xfrm>
            <a:off x="685783" y="5511800"/>
            <a:ext cx="2072529" cy="1066800"/>
          </a:xfrm>
          <a:prstGeom prst="rect">
            <a:avLst/>
          </a:prstGeom>
        </p:spPr>
      </p:pic>
      <p:pic>
        <p:nvPicPr>
          <p:cNvPr id="14" name="Image 6" descr="preencoded.png">    </p:cNvPr>
          <p:cNvPicPr>
            <a:picLocks noChangeAspect="1"/>
          </p:cNvPicPr>
          <p:nvPr/>
        </p:nvPicPr>
        <p:blipFill>
          <a:blip r:embed="rId7"/>
          <a:stretch>
            <a:fillRect/>
          </a:stretch>
        </p:blipFill>
        <p:spPr>
          <a:xfrm>
            <a:off x="2872609" y="5511800"/>
            <a:ext cx="2072529" cy="1066800"/>
          </a:xfrm>
          <a:prstGeom prst="rect">
            <a:avLst/>
          </a:prstGeom>
        </p:spPr>
      </p:pic>
      <p:pic>
        <p:nvPicPr>
          <p:cNvPr id="15" name="Image 7" descr="preencoded.png">    </p:cNvPr>
          <p:cNvPicPr>
            <a:picLocks noChangeAspect="1"/>
          </p:cNvPicPr>
          <p:nvPr/>
        </p:nvPicPr>
        <p:blipFill>
          <a:blip r:embed="rId8"/>
          <a:stretch>
            <a:fillRect/>
          </a:stretch>
        </p:blipFill>
        <p:spPr>
          <a:xfrm>
            <a:off x="5059534" y="5511800"/>
            <a:ext cx="2072529" cy="1066800"/>
          </a:xfrm>
          <a:prstGeom prst="rect">
            <a:avLst/>
          </a:prstGeom>
        </p:spPr>
      </p:pic>
      <p:pic>
        <p:nvPicPr>
          <p:cNvPr id="16" name="Image 8" descr="preencoded.png">    </p:cNvPr>
          <p:cNvPicPr>
            <a:picLocks noChangeAspect="1"/>
          </p:cNvPicPr>
          <p:nvPr/>
        </p:nvPicPr>
        <p:blipFill>
          <a:blip r:embed="rId9"/>
          <a:stretch>
            <a:fillRect/>
          </a:stretch>
        </p:blipFill>
        <p:spPr>
          <a:xfrm>
            <a:off x="7246359" y="4343400"/>
            <a:ext cx="2072529" cy="1066800"/>
          </a:xfrm>
          <a:prstGeom prst="rect">
            <a:avLst/>
          </a:prstGeom>
        </p:spPr>
      </p:pic>
      <p:pic>
        <p:nvPicPr>
          <p:cNvPr id="17" name="Image 9" descr="preencoded.png">    </p:cNvPr>
          <p:cNvPicPr>
            <a:picLocks noChangeAspect="1"/>
          </p:cNvPicPr>
          <p:nvPr/>
        </p:nvPicPr>
        <p:blipFill>
          <a:blip r:embed="rId10"/>
          <a:stretch>
            <a:fillRect/>
          </a:stretch>
        </p:blipFill>
        <p:spPr>
          <a:xfrm>
            <a:off x="9433284" y="4343400"/>
            <a:ext cx="2072529" cy="1066800"/>
          </a:xfrm>
          <a:prstGeom prst="rect">
            <a:avLst/>
          </a:prstGeom>
        </p:spPr>
      </p:pic>
      <p:pic>
        <p:nvPicPr>
          <p:cNvPr id="18" name="Image 10" descr="preencoded.png">    </p:cNvPr>
          <p:cNvPicPr>
            <a:picLocks noChangeAspect="1"/>
          </p:cNvPicPr>
          <p:nvPr/>
        </p:nvPicPr>
        <p:blipFill>
          <a:blip r:embed="rId11"/>
          <a:stretch>
            <a:fillRect/>
          </a:stretch>
        </p:blipFill>
        <p:spPr>
          <a:xfrm>
            <a:off x="7246359" y="5511800"/>
            <a:ext cx="2072529" cy="1066800"/>
          </a:xfrm>
          <a:prstGeom prst="rect">
            <a:avLst/>
          </a:prstGeom>
        </p:spPr>
      </p:pic>
      <p:pic>
        <p:nvPicPr>
          <p:cNvPr id="19" name="Image 11" descr="preencoded.png">    </p:cNvPr>
          <p:cNvPicPr>
            <a:picLocks noChangeAspect="1"/>
          </p:cNvPicPr>
          <p:nvPr/>
        </p:nvPicPr>
        <p:blipFill>
          <a:blip r:embed="rId12"/>
          <a:stretch>
            <a:fillRect/>
          </a:stretch>
        </p:blipFill>
        <p:spPr>
          <a:xfrm>
            <a:off x="9433284" y="5511800"/>
            <a:ext cx="2072529" cy="1066800"/>
          </a:xfrm>
          <a:prstGeom prst="rect">
            <a:avLst/>
          </a:prstGeom>
        </p:spPr>
      </p:pic>
      <p:sp>
        <p:nvSpPr>
          <p:cNvPr id="20" name="Text 6"/>
          <p:cNvSpPr/>
          <p:nvPr/>
        </p:nvSpPr>
        <p:spPr>
          <a:xfrm>
            <a:off x="929557" y="6447582"/>
            <a:ext cx="1431691"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15-10-2026</a:t>
            </a:r>
            <a:endParaRPr lang="en-US" sz="1200" dirty="0"/>
          </a:p>
        </p:txBody>
      </p:sp>
      <p:sp>
        <p:nvSpPr>
          <p:cNvPr id="21" name="Text 7"/>
          <p:cNvSpPr/>
          <p:nvPr/>
        </p:nvSpPr>
        <p:spPr>
          <a:xfrm>
            <a:off x="11138117" y="6447582"/>
            <a:ext cx="733605"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015" y="-164505"/>
            <a:ext cx="1215201" cy="1122363"/>
          </a:xfrm>
          <a:prstGeom prst="rect">
            <a:avLst/>
          </a:prstGeom>
        </p:spPr>
      </p:pic>
      <p:sp>
        <p:nvSpPr>
          <p:cNvPr id="3" name="Text 0"/>
          <p:cNvSpPr/>
          <p:nvPr/>
        </p:nvSpPr>
        <p:spPr>
          <a:xfrm>
            <a:off x="929557" y="684863"/>
            <a:ext cx="10366810" cy="602853"/>
          </a:xfrm>
          <a:prstGeom prst="rect">
            <a:avLst/>
          </a:prstGeom>
          <a:noFill/>
          <a:ln/>
        </p:spPr>
        <p:txBody>
          <a:bodyPr wrap="none" lIns="0" tIns="0" rIns="0" bIns="0" rtlCol="0" anchor="t"/>
          <a:lstStyle/>
          <a:p>
            <a:pPr algn="l" indent="0" marL="0">
              <a:lnSpc>
                <a:spcPct val="99000"/>
              </a:lnSpc>
              <a:buNone/>
            </a:pPr>
            <a:r>
              <a:rPr lang="en-US" sz="4000" spc="-153" kern="100" dirty="0">
                <a:solidFill>
                  <a:srgbClr val="000000"/>
                </a:solidFill>
                <a:latin typeface="Inter" pitchFamily="34" charset="0"/>
                <a:ea typeface="Inter" pitchFamily="34" charset="-122"/>
                <a:cs typeface="Inter" pitchFamily="34" charset="-120"/>
              </a:rPr>
              <a:t>Geo Tag Photo and GitHub Links</a:t>
            </a:r>
            <a:endParaRPr lang="en-US" sz="4000" dirty="0"/>
          </a:p>
        </p:txBody>
      </p:sp>
      <p:sp>
        <p:nvSpPr>
          <p:cNvPr id="4" name="Shape 1"/>
          <p:cNvSpPr/>
          <p:nvPr/>
        </p:nvSpPr>
        <p:spPr>
          <a:xfrm>
            <a:off x="685783" y="2320230"/>
            <a:ext cx="5486263" cy="3086100"/>
          </a:xfrm>
          <a:prstGeom prst="roundRect">
            <a:avLst>
              <a:gd name="adj" fmla="val 3600"/>
            </a:avLst>
          </a:prstGeom>
          <a:noFill/>
          <a:ln w="12700">
            <a:solidFill>
              <a:srgbClr val="9AA1A9"/>
            </a:solidFill>
            <a:prstDash val="solid"/>
          </a:ln>
        </p:spPr>
      </p:sp>
      <p:pic>
        <p:nvPicPr>
          <p:cNvPr id="5" name="Image 1" descr="preencoded.png">    </p:cNvPr>
          <p:cNvPicPr>
            <a:picLocks noChangeAspect="1"/>
          </p:cNvPicPr>
          <p:nvPr/>
        </p:nvPicPr>
        <p:blipFill>
          <a:blip r:embed="rId2"/>
          <a:stretch>
            <a:fillRect/>
          </a:stretch>
        </p:blipFill>
        <p:spPr>
          <a:xfrm>
            <a:off x="698483" y="2332930"/>
            <a:ext cx="5460863" cy="3060700"/>
          </a:xfrm>
          <a:prstGeom prst="rect">
            <a:avLst/>
          </a:prstGeom>
        </p:spPr>
      </p:pic>
      <p:sp>
        <p:nvSpPr>
          <p:cNvPr id="6" name="Shape 2"/>
          <p:cNvSpPr/>
          <p:nvPr/>
        </p:nvSpPr>
        <p:spPr>
          <a:xfrm>
            <a:off x="6446279" y="1600200"/>
            <a:ext cx="5056458" cy="2103041"/>
          </a:xfrm>
          <a:prstGeom prst="roundRect">
            <a:avLst>
              <a:gd name="adj" fmla="val 7203"/>
            </a:avLst>
          </a:prstGeom>
          <a:solidFill>
            <a:srgbClr val="F3F4F6"/>
          </a:solidFill>
          <a:ln/>
        </p:spPr>
      </p:sp>
      <p:sp>
        <p:nvSpPr>
          <p:cNvPr id="7" name="Text 3"/>
          <p:cNvSpPr/>
          <p:nvPr/>
        </p:nvSpPr>
        <p:spPr>
          <a:xfrm>
            <a:off x="6757521" y="2076649"/>
            <a:ext cx="4525452" cy="304800"/>
          </a:xfrm>
          <a:prstGeom prst="rect">
            <a:avLst/>
          </a:prstGeom>
          <a:noFill/>
          <a:ln/>
        </p:spPr>
        <p:txBody>
          <a:bodyPr wrap="none" lIns="0" tIns="0" rIns="0" bIns="0" rtlCol="0" anchor="t"/>
          <a:lstStyle/>
          <a:p>
            <a:pPr algn="l" indent="0" marL="0">
              <a:lnSpc>
                <a:spcPct val="100000"/>
              </a:lnSpc>
              <a:buNone/>
            </a:pPr>
            <a:r>
              <a:rPr lang="en-US" sz="2000" b="1" spc="-98" kern="100" dirty="0">
                <a:solidFill>
                  <a:srgbClr val="1F2933"/>
                </a:solidFill>
                <a:latin typeface="Inter Bold" pitchFamily="34" charset="0"/>
                <a:ea typeface="Inter Bold" pitchFamily="34" charset="-122"/>
                <a:cs typeface="Inter Bold" pitchFamily="34" charset="-120"/>
              </a:rPr>
              <a:t>GANGESH CHANDRA</a:t>
            </a:r>
            <a:endParaRPr lang="en-US" sz="2000" dirty="0"/>
          </a:p>
        </p:txBody>
      </p:sp>
      <p:sp>
        <p:nvSpPr>
          <p:cNvPr id="8" name="Text 4"/>
          <p:cNvSpPr/>
          <p:nvPr/>
        </p:nvSpPr>
        <p:spPr>
          <a:xfrm>
            <a:off x="6757521" y="2381448"/>
            <a:ext cx="5135037" cy="279995"/>
          </a:xfrm>
          <a:prstGeom prst="rect">
            <a:avLst/>
          </a:prstGeom>
          <a:noFill/>
          <a:ln/>
        </p:spPr>
        <p:txBody>
          <a:bodyPr wrap="none" lIns="0" tIns="51434" rIns="0" bIns="0" rtlCol="0" anchor="t"/>
          <a:lstStyle/>
          <a:p>
            <a:pPr algn="l" indent="0" marL="0">
              <a:lnSpc>
                <a:spcPct val="100000"/>
              </a:lnSpc>
              <a:buNone/>
            </a:pPr>
            <a:r>
              <a:rPr lang="en-US" sz="1500" b="1" spc="-98" kern="100" dirty="0">
                <a:solidFill>
                  <a:srgbClr val="5B6570"/>
                </a:solidFill>
                <a:latin typeface="Inter Bold" pitchFamily="34" charset="0"/>
                <a:ea typeface="Inter Bold" pitchFamily="34" charset="-122"/>
                <a:cs typeface="Inter Bold" pitchFamily="34" charset="-120"/>
              </a:rPr>
              <a:t>Roll No: </a:t>
            </a:r>
            <a:pPr algn="l" indent="0" marL="0">
              <a:lnSpc>
                <a:spcPct val="100000"/>
              </a:lnSpc>
              <a:buNone/>
            </a:pPr>
            <a:r>
              <a:rPr lang="en-US" sz="1500" spc="-98" kern="100" dirty="0">
                <a:solidFill>
                  <a:srgbClr val="1F2933"/>
                </a:solidFill>
                <a:latin typeface="Inter" pitchFamily="34" charset="0"/>
                <a:ea typeface="Inter" pitchFamily="34" charset="-122"/>
                <a:cs typeface="Inter" pitchFamily="34" charset="-120"/>
              </a:rPr>
              <a:t>2620030426</a:t>
            </a:r>
            <a:endParaRPr lang="en-US" sz="1500" dirty="0"/>
          </a:p>
        </p:txBody>
      </p:sp>
      <p:sp>
        <p:nvSpPr>
          <p:cNvPr id="9" name="Text 5"/>
          <p:cNvSpPr/>
          <p:nvPr/>
        </p:nvSpPr>
        <p:spPr>
          <a:xfrm>
            <a:off x="6757521" y="2673826"/>
            <a:ext cx="4525452" cy="311944"/>
          </a:xfrm>
          <a:prstGeom prst="rect">
            <a:avLst/>
          </a:prstGeom>
          <a:noFill/>
          <a:ln/>
        </p:spPr>
        <p:txBody>
          <a:bodyPr wrap="square" lIns="0" tIns="113916" rIns="0" bIns="0" rtlCol="0" anchor="t">
            <a:normAutofit/>
          </a:bodyPr>
          <a:lstStyle/>
          <a:p>
            <a:pPr algn="l" indent="0" marL="0">
              <a:lnSpc>
                <a:spcPct val="100000"/>
              </a:lnSpc>
              <a:buNone/>
            </a:pPr>
            <a:r>
              <a:rPr lang="en-US" sz="1300" b="1" spc="-98" kern="100" dirty="0">
                <a:solidFill>
                  <a:srgbClr val="5B6570"/>
                </a:solidFill>
                <a:latin typeface="Inter Bold" pitchFamily="34" charset="0"/>
                <a:ea typeface="Inter Bold" pitchFamily="34" charset="-122"/>
                <a:cs typeface="Inter Bold" pitchFamily="34" charset="-120"/>
              </a:rPr>
              <a:t>GitHub</a:t>
            </a:r>
            <a:endParaRPr lang="en-US" sz="1300" dirty="0"/>
          </a:p>
        </p:txBody>
      </p:sp>
      <p:sp>
        <p:nvSpPr>
          <p:cNvPr id="10" name="Text 6"/>
          <p:cNvSpPr/>
          <p:nvPr/>
        </p:nvSpPr>
        <p:spPr>
          <a:xfrm>
            <a:off x="6757521" y="2973388"/>
            <a:ext cx="5135037" cy="253305"/>
          </a:xfrm>
          <a:prstGeom prst="rect">
            <a:avLst/>
          </a:prstGeom>
          <a:noFill/>
          <a:ln/>
        </p:spPr>
        <p:txBody>
          <a:bodyPr wrap="none" lIns="0" tIns="24764" rIns="0" bIns="0" rtlCol="0" anchor="t"/>
          <a:lstStyle/>
          <a:p>
            <a:pPr algn="l" indent="0" marL="0">
              <a:lnSpc>
                <a:spcPct val="100000"/>
              </a:lnSpc>
              <a:buNone/>
            </a:pPr>
            <a:r>
              <a:rPr lang="en-US" sz="1500" u="sng" spc="-98" kern="100" dirty="0">
                <a:solidFill>
                  <a:srgbClr val="467886"/>
                </a:solid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https://github.com/gangeshchandra</a:t>
            </a:r>
            <a:endParaRPr lang="en-US" sz="1500" dirty="0"/>
          </a:p>
        </p:txBody>
      </p:sp>
      <p:sp>
        <p:nvSpPr>
          <p:cNvPr id="11" name="Shape 7"/>
          <p:cNvSpPr/>
          <p:nvPr/>
        </p:nvSpPr>
        <p:spPr>
          <a:xfrm>
            <a:off x="6446279" y="4023320"/>
            <a:ext cx="5056458" cy="2103041"/>
          </a:xfrm>
          <a:prstGeom prst="roundRect">
            <a:avLst>
              <a:gd name="adj" fmla="val 7203"/>
            </a:avLst>
          </a:prstGeom>
          <a:solidFill>
            <a:srgbClr val="F3F4F6"/>
          </a:solidFill>
          <a:ln/>
        </p:spPr>
      </p:sp>
      <p:sp>
        <p:nvSpPr>
          <p:cNvPr id="12" name="Text 8"/>
          <p:cNvSpPr/>
          <p:nvPr/>
        </p:nvSpPr>
        <p:spPr>
          <a:xfrm>
            <a:off x="6757521" y="4499769"/>
            <a:ext cx="4525452" cy="304800"/>
          </a:xfrm>
          <a:prstGeom prst="rect">
            <a:avLst/>
          </a:prstGeom>
          <a:noFill/>
          <a:ln/>
        </p:spPr>
        <p:txBody>
          <a:bodyPr wrap="none" lIns="0" tIns="0" rIns="0" bIns="0" rtlCol="0" anchor="t"/>
          <a:lstStyle/>
          <a:p>
            <a:pPr algn="l" indent="0" marL="0">
              <a:lnSpc>
                <a:spcPct val="100000"/>
              </a:lnSpc>
              <a:buNone/>
            </a:pPr>
            <a:r>
              <a:rPr lang="en-US" sz="2000" b="1" spc="-98" kern="100" dirty="0">
                <a:solidFill>
                  <a:srgbClr val="1F2933"/>
                </a:solidFill>
                <a:latin typeface="Inter Bold" pitchFamily="34" charset="0"/>
                <a:ea typeface="Inter Bold" pitchFamily="34" charset="-122"/>
                <a:cs typeface="Inter Bold" pitchFamily="34" charset="-120"/>
              </a:rPr>
              <a:t>AJAY SIDDARTH</a:t>
            </a:r>
            <a:endParaRPr lang="en-US" sz="2000" dirty="0"/>
          </a:p>
        </p:txBody>
      </p:sp>
      <p:sp>
        <p:nvSpPr>
          <p:cNvPr id="13" name="Text 9"/>
          <p:cNvSpPr/>
          <p:nvPr/>
        </p:nvSpPr>
        <p:spPr>
          <a:xfrm>
            <a:off x="6757521" y="4804569"/>
            <a:ext cx="5135037" cy="279995"/>
          </a:xfrm>
          <a:prstGeom prst="rect">
            <a:avLst/>
          </a:prstGeom>
          <a:noFill/>
          <a:ln/>
        </p:spPr>
        <p:txBody>
          <a:bodyPr wrap="none" lIns="0" tIns="51434" rIns="0" bIns="0" rtlCol="0" anchor="t"/>
          <a:lstStyle/>
          <a:p>
            <a:pPr algn="l" indent="0" marL="0">
              <a:lnSpc>
                <a:spcPct val="100000"/>
              </a:lnSpc>
              <a:buNone/>
            </a:pPr>
            <a:r>
              <a:rPr lang="en-US" sz="1500" b="1" spc="-98" kern="100" dirty="0">
                <a:solidFill>
                  <a:srgbClr val="5B6570"/>
                </a:solidFill>
                <a:latin typeface="Inter Bold" pitchFamily="34" charset="0"/>
                <a:ea typeface="Inter Bold" pitchFamily="34" charset="-122"/>
                <a:cs typeface="Inter Bold" pitchFamily="34" charset="-120"/>
              </a:rPr>
              <a:t>Roll No: </a:t>
            </a:r>
            <a:pPr algn="l" indent="0" marL="0">
              <a:lnSpc>
                <a:spcPct val="100000"/>
              </a:lnSpc>
              <a:buNone/>
            </a:pPr>
            <a:r>
              <a:rPr lang="en-US" sz="1500" spc="-98" kern="100" dirty="0">
                <a:solidFill>
                  <a:srgbClr val="1F2933"/>
                </a:solidFill>
                <a:latin typeface="Inter" pitchFamily="34" charset="0"/>
                <a:ea typeface="Inter" pitchFamily="34" charset="-122"/>
                <a:cs typeface="Inter" pitchFamily="34" charset="-120"/>
              </a:rPr>
              <a:t>2620030181</a:t>
            </a:r>
            <a:endParaRPr lang="en-US" sz="1500" dirty="0"/>
          </a:p>
        </p:txBody>
      </p:sp>
      <p:sp>
        <p:nvSpPr>
          <p:cNvPr id="14" name="Text 10"/>
          <p:cNvSpPr/>
          <p:nvPr/>
        </p:nvSpPr>
        <p:spPr>
          <a:xfrm>
            <a:off x="6757521" y="5096947"/>
            <a:ext cx="4525452" cy="311944"/>
          </a:xfrm>
          <a:prstGeom prst="rect">
            <a:avLst/>
          </a:prstGeom>
          <a:noFill/>
          <a:ln/>
        </p:spPr>
        <p:txBody>
          <a:bodyPr wrap="square" lIns="0" tIns="113916" rIns="0" bIns="0" rtlCol="0" anchor="t">
            <a:normAutofit/>
          </a:bodyPr>
          <a:lstStyle/>
          <a:p>
            <a:pPr algn="l" indent="0" marL="0">
              <a:lnSpc>
                <a:spcPct val="100000"/>
              </a:lnSpc>
              <a:buNone/>
            </a:pPr>
            <a:r>
              <a:rPr lang="en-US" sz="1300" b="1" spc="-98" kern="100" dirty="0">
                <a:solidFill>
                  <a:srgbClr val="5B6570"/>
                </a:solidFill>
                <a:latin typeface="Inter Bold" pitchFamily="34" charset="0"/>
                <a:ea typeface="Inter Bold" pitchFamily="34" charset="-122"/>
                <a:cs typeface="Inter Bold" pitchFamily="34" charset="-120"/>
              </a:rPr>
              <a:t>GitHub</a:t>
            </a:r>
            <a:endParaRPr lang="en-US" sz="1300" dirty="0"/>
          </a:p>
        </p:txBody>
      </p:sp>
      <p:sp>
        <p:nvSpPr>
          <p:cNvPr id="15" name="Text 11"/>
          <p:cNvSpPr/>
          <p:nvPr/>
        </p:nvSpPr>
        <p:spPr>
          <a:xfrm>
            <a:off x="6757521" y="5396508"/>
            <a:ext cx="5135037" cy="253305"/>
          </a:xfrm>
          <a:prstGeom prst="rect">
            <a:avLst/>
          </a:prstGeom>
          <a:noFill/>
          <a:ln/>
        </p:spPr>
        <p:txBody>
          <a:bodyPr wrap="none" lIns="0" tIns="24764" rIns="0" bIns="0" rtlCol="0" anchor="t"/>
          <a:lstStyle/>
          <a:p>
            <a:pPr algn="l" indent="0" marL="0">
              <a:lnSpc>
                <a:spcPct val="100000"/>
              </a:lnSpc>
              <a:buNone/>
            </a:pPr>
            <a:r>
              <a:rPr lang="en-US" sz="1500" u="sng" spc="-98" kern="100" dirty="0">
                <a:solidFill>
                  <a:srgbClr val="467886"/>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https://github.com/siddarth901</a:t>
            </a:r>
            <a:endParaRPr lang="en-US" sz="1500" dirty="0"/>
          </a:p>
        </p:txBody>
      </p:sp>
      <p:sp>
        <p:nvSpPr>
          <p:cNvPr id="16" name="Text 12"/>
          <p:cNvSpPr/>
          <p:nvPr/>
        </p:nvSpPr>
        <p:spPr>
          <a:xfrm>
            <a:off x="6503428" y="6207125"/>
            <a:ext cx="4942161" cy="304800"/>
          </a:xfrm>
          <a:prstGeom prst="rect">
            <a:avLst/>
          </a:prstGeom>
          <a:noFill/>
          <a:ln/>
        </p:spPr>
        <p:txBody>
          <a:bodyPr wrap="square" lIns="0" tIns="0" rIns="0" bIns="0" rtlCol="0" anchor="t">
            <a:normAutofit/>
          </a:bodyPr>
          <a:lstStyle/>
          <a:p>
            <a:pPr algn="l" indent="0" marL="0">
              <a:lnSpc>
                <a:spcPct val="100000"/>
              </a:lnSpc>
              <a:buNone/>
            </a:pPr>
            <a:r>
              <a:rPr lang="en-US" sz="1000" u="sng" dirty="0">
                <a:solidFill>
                  <a:srgbClr val="467886"/>
                </a:solid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https://github.com/gangeshchandra/HOTEL-BOOKING-AND-OCCUPANCY-MANAGER--team18</a:t>
            </a:r>
            <a:endParaRPr lang="en-US" sz="1000" dirty="0"/>
          </a:p>
        </p:txBody>
      </p:sp>
      <p:sp>
        <p:nvSpPr>
          <p:cNvPr id="17" name="Text 13"/>
          <p:cNvSpPr/>
          <p:nvPr/>
        </p:nvSpPr>
        <p:spPr>
          <a:xfrm>
            <a:off x="929557" y="6447582"/>
            <a:ext cx="1431691"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15-10-2026</a:t>
            </a:r>
            <a:endParaRPr lang="en-US" sz="1200" dirty="0"/>
          </a:p>
        </p:txBody>
      </p:sp>
      <p:sp>
        <p:nvSpPr>
          <p:cNvPr id="18" name="Text 14"/>
          <p:cNvSpPr/>
          <p:nvPr/>
        </p:nvSpPr>
        <p:spPr>
          <a:xfrm>
            <a:off x="11107162" y="6447582"/>
            <a:ext cx="764561" cy="182860"/>
          </a:xfrm>
          <a:prstGeom prst="rect">
            <a:avLst/>
          </a:prstGeom>
          <a:noFill/>
          <a:ln/>
        </p:spPr>
        <p:txBody>
          <a:bodyPr wrap="none" lIns="0" tIns="0" rIns="0" bIns="0" rtlCol="0" anchor="ctr"/>
          <a:lstStyle/>
          <a:p>
            <a:pPr algn="l" indent="0" marL="0">
              <a:lnSpc>
                <a:spcPct val="100000"/>
              </a:lnSpc>
              <a:buNone/>
            </a:pPr>
            <a:r>
              <a:rPr lang="en-US" sz="1200" dirty="0">
                <a:solidFill>
                  <a:srgbClr val="767676"/>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467886"/>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2026-10-15T12:17:05Z</dcterms:created>
  <dcterms:modified xsi:type="dcterms:W3CDTF">2026-10-15T12:17:05Z</dcterms:modified>
</cp:coreProperties>
</file>